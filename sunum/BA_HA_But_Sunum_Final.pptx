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CDC911-F863-B7AF-153F-4D38BD03F866}" v="599" dt="2026-06-30T11:44:19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289B69C8-82C5-41C1-9833-6A70C641F3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E7D5B"/>
          </a:solidFill>
          <a:ln w="0">
            <a:noFill/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F3A6A9B-2B00-4B69-A174-48300EF83F0C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9239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8212B"/>
                </a:solidFill>
              </a:defRPr>
            </a:pPr>
            <a:r>
              <a:rPr sz="3750" b="1">
                <a:solidFill>
                  <a:srgbClr val="18212B"/>
                </a:solidFill>
              </a:rPr>
              <a:t>Top1–Top2 Token Olasılık Farkı ile</a:t>
            </a:r>
          </a:p>
          <a:p>
            <a:pPr>
              <a:defRPr sz="3750" b="1">
                <a:solidFill>
                  <a:srgbClr val="18212B"/>
                </a:solidFill>
              </a:defRPr>
            </a:pPr>
            <a:r>
              <a:rPr sz="3750" b="1">
                <a:solidFill>
                  <a:srgbClr val="18212B"/>
                </a:solidFill>
              </a:rPr>
              <a:t>Cosmos-T1 Cevap Doğruluğu Tahmini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E7A7C61-96E7-4335-8CBF-BC7BEEF20F03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5B6773"/>
                </a:solidFill>
              </a:defRPr>
            </a:pPr>
            <a:r>
              <a:rPr sz="1800">
                <a:solidFill>
                  <a:srgbClr val="5B6773"/>
                </a:solidFill>
              </a:rPr>
              <a:t>Türkçe GSM8K-TR üzerinde iç olasılık sinyalinden özellik çıkarımı ve klasik ML sınıflandırması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5C4ED17-EF8D-4486-8F13-D3C0C29FB3EF}"/>
              </a:ext>
            </a:extLst>
          </p:cNvPr>
          <p:cNvSpPr>
            <a:spLocks noGrp="1"/>
          </p:cNvSpPr>
          <p:nvPr/>
        </p:nvSpPr>
        <p:spPr>
          <a:xfrm>
            <a:off x="512379" y="5335971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Betül Arslan</a:t>
            </a:r>
          </a:p>
          <a:p>
            <a:pPr>
              <a:defRPr sz="1350">
                <a:solidFill>
                  <a:srgbClr val="18212B"/>
                </a:solidFill>
              </a:defRPr>
            </a:pPr>
            <a:r>
              <a:rPr sz="1350" dirty="0" err="1">
                <a:solidFill>
                  <a:srgbClr val="18212B"/>
                </a:solidFill>
              </a:rPr>
              <a:t>Hesaplamalı</a:t>
            </a:r>
            <a:r>
              <a:rPr sz="1350" dirty="0">
                <a:solidFill>
                  <a:srgbClr val="18212B"/>
                </a:solidFill>
              </a:rPr>
              <a:t> </a:t>
            </a:r>
            <a:r>
              <a:rPr sz="1350" dirty="0" err="1">
                <a:solidFill>
                  <a:srgbClr val="18212B"/>
                </a:solidFill>
              </a:rPr>
              <a:t>Anlambilim</a:t>
            </a:r>
            <a:r>
              <a:rPr sz="1350" dirty="0">
                <a:solidFill>
                  <a:srgbClr val="18212B"/>
                </a:solidFill>
              </a:rPr>
              <a:t> Proje </a:t>
            </a:r>
            <a:r>
              <a:rPr sz="1350" dirty="0" err="1">
                <a:solidFill>
                  <a:srgbClr val="18212B"/>
                </a:solidFill>
              </a:rPr>
              <a:t>Sunumu</a:t>
            </a:r>
            <a:endParaRPr sz="1350">
              <a:solidFill>
                <a:srgbClr val="18212B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CBD8B44-9C65-4788-9D37-231F6B6DDA1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69E73A5-59B3-47F4-9EF7-FE3100F9955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149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4B64F8DF-CB53-4E8A-A798-46F164CFDD9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lang="tr-TR" sz="2850" b="1">
                <a:solidFill>
                  <a:srgbClr val="18212B"/>
                </a:solidFill>
              </a:rPr>
              <a:t>ARAŞTIRMA SORUSU</a:t>
            </a:r>
            <a:br>
              <a:rPr lang="tr-TR" sz="2850" b="1" dirty="0">
                <a:solidFill>
                  <a:srgbClr val="18212B"/>
                </a:solidFill>
              </a:rPr>
            </a:br>
            <a:endParaRPr lang="tr-TR" sz="2850" b="1" dirty="0">
              <a:solidFill>
                <a:srgbClr val="18212B"/>
              </a:solidFill>
            </a:endParaRPr>
          </a:p>
          <a:p>
            <a:pPr>
              <a:defRPr sz="2850" b="1">
                <a:solidFill>
                  <a:srgbClr val="18212B"/>
                </a:solidFill>
              </a:defRPr>
            </a:pPr>
            <a:endParaRPr lang="tr-TR" sz="2850" dirty="0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6BA6CCA-E328-4D38-A4EA-4DFE985643F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5F8FA4B-8EA0-4B95-A952-ABBB0FE62F67}"/>
              </a:ext>
            </a:extLst>
          </p:cNvPr>
          <p:cNvSpPr>
            <a:spLocks noGrp="1"/>
          </p:cNvSpPr>
          <p:nvPr/>
        </p:nvSpPr>
        <p:spPr>
          <a:xfrm>
            <a:off x="982717" y="1335471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1">
                <a:solidFill>
                  <a:srgbClr val="B84A4A"/>
                </a:solidFill>
              </a:defRPr>
            </a:pPr>
            <a:endParaRPr lang="tr-TR" sz="900" b="1" dirty="0">
              <a:solidFill>
                <a:srgbClr val="B84A4A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E409B0D-E4DA-4B60-83B2-ED390AE9B1CE}"/>
              </a:ext>
            </a:extLst>
          </p:cNvPr>
          <p:cNvSpPr>
            <a:spLocks noGrp="1"/>
          </p:cNvSpPr>
          <p:nvPr/>
        </p:nvSpPr>
        <p:spPr>
          <a:xfrm>
            <a:off x="982717" y="1697421"/>
            <a:ext cx="26479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 b="1">
                <a:solidFill>
                  <a:srgbClr val="18212B"/>
                </a:solidFill>
              </a:defRPr>
            </a:pPr>
            <a:endParaRPr lang="tr-TR" sz="1800" b="1" dirty="0">
              <a:solidFill>
                <a:srgbClr val="18212B"/>
              </a:solidFill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FE38CA95-E0A0-46E6-9A6F-C16C37CCA299}"/>
              </a:ext>
            </a:extLst>
          </p:cNvPr>
          <p:cNvSpPr>
            <a:spLocks noGrp="1"/>
          </p:cNvSpPr>
          <p:nvPr/>
        </p:nvSpPr>
        <p:spPr>
          <a:xfrm>
            <a:off x="982717" y="3145221"/>
            <a:ext cx="2705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125">
                <a:solidFill>
                  <a:srgbClr val="5B6773"/>
                </a:solidFill>
              </a:defRPr>
            </a:pPr>
            <a:endParaRPr lang="tr-TR" sz="1100" dirty="0">
              <a:solidFill>
                <a:srgbClr val="5B6773"/>
              </a:solidFill>
            </a:endParaRPr>
          </a:p>
          <a:p>
            <a:pPr>
              <a:defRPr sz="1125">
                <a:solidFill>
                  <a:srgbClr val="5B6773"/>
                </a:solidFill>
              </a:defRPr>
            </a:pPr>
            <a:r>
              <a:rPr lang="tr-TR" sz="1100"/>
              <a:t>Cosmos-T1 modelinin Türkçe matematik sorularını çözerken ürettiği token olasılıkları analiz </a:t>
            </a:r>
            <a:endParaRPr lang="tr-TR"/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12A2D6DB-B038-4F2F-B377-4D1A3FCF78AE}"/>
              </a:ext>
            </a:extLst>
          </p:cNvPr>
          <p:cNvSpPr>
            <a:spLocks noGrp="1"/>
          </p:cNvSpPr>
          <p:nvPr/>
        </p:nvSpPr>
        <p:spPr>
          <a:xfrm>
            <a:off x="640474" y="1704648"/>
            <a:ext cx="8425355" cy="4688927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5C6D3BF-A751-408B-A259-E65A6F45B4F2}"/>
              </a:ext>
            </a:extLst>
          </p:cNvPr>
          <p:cNvSpPr>
            <a:spLocks noGrp="1"/>
          </p:cNvSpPr>
          <p:nvPr/>
        </p:nvSpPr>
        <p:spPr>
          <a:xfrm>
            <a:off x="4773667" y="1335471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1">
                <a:solidFill>
                  <a:srgbClr val="2E7D5B"/>
                </a:solidFill>
              </a:defRPr>
            </a:pPr>
            <a:endParaRPr lang="tr-TR" sz="900" b="1" dirty="0">
              <a:solidFill>
                <a:srgbClr val="2E7D5B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7C19C7F-481B-43FC-AEB5-E40FD5E82C80}"/>
              </a:ext>
            </a:extLst>
          </p:cNvPr>
          <p:cNvSpPr>
            <a:spLocks noGrp="1"/>
          </p:cNvSpPr>
          <p:nvPr/>
        </p:nvSpPr>
        <p:spPr>
          <a:xfrm>
            <a:off x="690399" y="1697421"/>
            <a:ext cx="6796908" cy="1134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 b="1">
                <a:solidFill>
                  <a:srgbClr val="18212B"/>
                </a:solidFill>
              </a:defRPr>
            </a:pPr>
            <a:r>
              <a:rPr sz="1850" b="1" dirty="0">
                <a:solidFill>
                  <a:srgbClr val="18212B"/>
                </a:solidFill>
              </a:rPr>
              <a:t>Top1–top2 fark </a:t>
            </a:r>
            <a:r>
              <a:rPr sz="1850" b="1" dirty="0" err="1">
                <a:solidFill>
                  <a:srgbClr val="18212B"/>
                </a:solidFill>
              </a:rPr>
              <a:t>dizisi</a:t>
            </a:r>
            <a:r>
              <a:rPr sz="1850" b="1" dirty="0">
                <a:solidFill>
                  <a:srgbClr val="18212B"/>
                </a:solidFill>
              </a:rPr>
              <a:t>,</a:t>
            </a:r>
          </a:p>
          <a:p>
            <a:pPr>
              <a:defRPr sz="1875" b="1">
                <a:solidFill>
                  <a:srgbClr val="18212B"/>
                </a:solidFill>
              </a:defRPr>
            </a:pPr>
            <a:r>
              <a:rPr sz="1850" b="1" dirty="0" err="1">
                <a:solidFill>
                  <a:srgbClr val="18212B"/>
                </a:solidFill>
              </a:rPr>
              <a:t>cevabın</a:t>
            </a:r>
            <a:r>
              <a:rPr sz="1850" b="1" dirty="0">
                <a:solidFill>
                  <a:srgbClr val="18212B"/>
                </a:solidFill>
              </a:rPr>
              <a:t> </a:t>
            </a:r>
            <a:r>
              <a:rPr sz="1850" b="1" dirty="0" err="1">
                <a:solidFill>
                  <a:srgbClr val="18212B"/>
                </a:solidFill>
              </a:rPr>
              <a:t>doğru</a:t>
            </a:r>
            <a:r>
              <a:rPr sz="1850" b="1" dirty="0">
                <a:solidFill>
                  <a:srgbClr val="18212B"/>
                </a:solidFill>
              </a:rPr>
              <a:t>/</a:t>
            </a:r>
            <a:r>
              <a:rPr sz="1850" b="1" dirty="0" err="1">
                <a:solidFill>
                  <a:srgbClr val="18212B"/>
                </a:solidFill>
              </a:rPr>
              <a:t>yanlış</a:t>
            </a:r>
            <a:r>
              <a:rPr sz="1850" b="1" dirty="0">
                <a:solidFill>
                  <a:srgbClr val="18212B"/>
                </a:solidFill>
              </a:rPr>
              <a:t> </a:t>
            </a:r>
            <a:r>
              <a:rPr sz="1850" b="1" dirty="0" err="1">
                <a:solidFill>
                  <a:srgbClr val="18212B"/>
                </a:solidFill>
              </a:rPr>
              <a:t>olduğunu</a:t>
            </a:r>
            <a:r>
              <a:rPr sz="1850" b="1" dirty="0">
                <a:solidFill>
                  <a:srgbClr val="18212B"/>
                </a:solidFill>
              </a:rPr>
              <a:t> </a:t>
            </a:r>
            <a:r>
              <a:rPr sz="1850" b="1" dirty="0" err="1">
                <a:solidFill>
                  <a:srgbClr val="18212B"/>
                </a:solidFill>
              </a:rPr>
              <a:t>tahmin</a:t>
            </a:r>
            <a:r>
              <a:rPr sz="1850" b="1" dirty="0">
                <a:solidFill>
                  <a:srgbClr val="18212B"/>
                </a:solidFill>
              </a:rPr>
              <a:t> </a:t>
            </a:r>
            <a:r>
              <a:rPr sz="1850" b="1" dirty="0" err="1">
                <a:solidFill>
                  <a:srgbClr val="18212B"/>
                </a:solidFill>
              </a:rPr>
              <a:t>ettirebilir</a:t>
            </a:r>
            <a:r>
              <a:rPr sz="1850" b="1" dirty="0">
                <a:solidFill>
                  <a:srgbClr val="18212B"/>
                </a:solidFill>
              </a:rPr>
              <a:t> mi?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2FA42EF0-408C-409B-90D8-389A4837F77A}"/>
              </a:ext>
            </a:extLst>
          </p:cNvPr>
          <p:cNvSpPr>
            <a:spLocks noGrp="1"/>
          </p:cNvSpPr>
          <p:nvPr/>
        </p:nvSpPr>
        <p:spPr>
          <a:xfrm>
            <a:off x="685143" y="2915965"/>
            <a:ext cx="7355927" cy="24764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400" dirty="0">
                <a:solidFill>
                  <a:srgbClr val="5B6773"/>
                </a:solidFill>
              </a:rPr>
              <a:t>Amaç: </a:t>
            </a:r>
            <a:endParaRPr lang="tr-TR" sz="1400" dirty="0"/>
          </a:p>
          <a:p>
            <a:pPr marL="285750" indent="-285750">
              <a:buFont typeface="Arial"/>
              <a:buChar char="•"/>
              <a:defRPr sz="1350">
                <a:solidFill>
                  <a:srgbClr val="5B6773"/>
                </a:solidFill>
              </a:defRPr>
            </a:pPr>
            <a:r>
              <a:rPr sz="1600" dirty="0">
                <a:solidFill>
                  <a:srgbClr val="5B6773"/>
                </a:solidFill>
              </a:rPr>
              <a:t>Değişken </a:t>
            </a:r>
            <a:r>
              <a:rPr sz="1600" dirty="0" err="1">
                <a:solidFill>
                  <a:srgbClr val="5B6773"/>
                </a:solidFill>
              </a:rPr>
              <a:t>uzunluklu</a:t>
            </a:r>
            <a:r>
              <a:rPr sz="1600" dirty="0">
                <a:solidFill>
                  <a:srgbClr val="5B6773"/>
                </a:solidFill>
              </a:rPr>
              <a:t> token fark </a:t>
            </a:r>
            <a:r>
              <a:rPr sz="1600" dirty="0" err="1">
                <a:solidFill>
                  <a:srgbClr val="5B6773"/>
                </a:solidFill>
              </a:rPr>
              <a:t>dizisini</a:t>
            </a:r>
            <a:r>
              <a:rPr sz="1600" dirty="0">
                <a:solidFill>
                  <a:srgbClr val="5B6773"/>
                </a:solidFill>
              </a:rPr>
              <a:t> </a:t>
            </a:r>
            <a:r>
              <a:rPr sz="1600" dirty="0" err="1">
                <a:solidFill>
                  <a:srgbClr val="5B6773"/>
                </a:solidFill>
              </a:rPr>
              <a:t>sabit</a:t>
            </a:r>
            <a:r>
              <a:rPr sz="1600" dirty="0">
                <a:solidFill>
                  <a:srgbClr val="5B6773"/>
                </a:solidFill>
              </a:rPr>
              <a:t> </a:t>
            </a:r>
            <a:r>
              <a:rPr sz="1600" dirty="0" err="1">
                <a:solidFill>
                  <a:srgbClr val="5B6773"/>
                </a:solidFill>
              </a:rPr>
              <a:t>boyutlu</a:t>
            </a:r>
            <a:r>
              <a:rPr sz="1600" dirty="0">
                <a:solidFill>
                  <a:srgbClr val="5B6773"/>
                </a:solidFill>
              </a:rPr>
              <a:t> </a:t>
            </a:r>
            <a:r>
              <a:rPr sz="1600" dirty="0" err="1">
                <a:solidFill>
                  <a:srgbClr val="5B6773"/>
                </a:solidFill>
              </a:rPr>
              <a:t>özelliklere</a:t>
            </a:r>
            <a:r>
              <a:rPr sz="1600" dirty="0">
                <a:solidFill>
                  <a:srgbClr val="5B6773"/>
                </a:solidFill>
              </a:rPr>
              <a:t> </a:t>
            </a:r>
            <a:r>
              <a:rPr sz="1600" dirty="0" err="1">
                <a:solidFill>
                  <a:srgbClr val="5B6773"/>
                </a:solidFill>
              </a:rPr>
              <a:t>dönüştürüp</a:t>
            </a:r>
            <a:r>
              <a:rPr sz="1600" dirty="0">
                <a:solidFill>
                  <a:srgbClr val="5B6773"/>
                </a:solidFill>
              </a:rPr>
              <a:t> ML </a:t>
            </a:r>
            <a:r>
              <a:rPr sz="1600" dirty="0" err="1">
                <a:solidFill>
                  <a:srgbClr val="5B6773"/>
                </a:solidFill>
              </a:rPr>
              <a:t>modeli</a:t>
            </a:r>
            <a:r>
              <a:rPr sz="1600" dirty="0">
                <a:solidFill>
                  <a:srgbClr val="5B6773"/>
                </a:solidFill>
              </a:rPr>
              <a:t> </a:t>
            </a:r>
            <a:r>
              <a:rPr sz="1600" dirty="0" err="1">
                <a:solidFill>
                  <a:srgbClr val="5B6773"/>
                </a:solidFill>
              </a:rPr>
              <a:t>eğitmek</a:t>
            </a:r>
            <a:r>
              <a:rPr lang="tr-TR" sz="1600" dirty="0">
                <a:solidFill>
                  <a:srgbClr val="5B6773"/>
                </a:solidFill>
              </a:rPr>
              <a:t> </a:t>
            </a:r>
            <a:endParaRPr lang="tr-TR" sz="1600" dirty="0"/>
          </a:p>
          <a:p>
            <a:pPr marL="285750" indent="-285750">
              <a:buFont typeface="Arial"/>
              <a:buChar char="•"/>
              <a:defRPr sz="1350">
                <a:solidFill>
                  <a:srgbClr val="5B6773"/>
                </a:solidFill>
              </a:defRPr>
            </a:pPr>
            <a:r>
              <a:rPr lang="tr-TR" sz="1600">
                <a:solidFill>
                  <a:srgbClr val="5B6773"/>
                </a:solidFill>
              </a:rPr>
              <a:t>Bu çalışmada, Cosmos-T1 modelinin Türkçe matematik sorularını çözerken ürettiği token olasılıkları analiz etme</a:t>
            </a:r>
            <a:endParaRPr lang="tr-TR" sz="1600" dirty="0">
              <a:solidFill>
                <a:srgbClr val="5B6773"/>
              </a:solidFill>
            </a:endParaRPr>
          </a:p>
          <a:p>
            <a:pPr marL="285750" indent="-285750">
              <a:buFont typeface="Arial"/>
              <a:buChar char="•"/>
              <a:defRPr sz="1350">
                <a:solidFill>
                  <a:srgbClr val="5B6773"/>
                </a:solidFill>
              </a:defRPr>
            </a:pPr>
            <a:r>
              <a:rPr lang="tr-TR" sz="1600">
                <a:solidFill>
                  <a:srgbClr val="5B6773"/>
                </a:solidFill>
              </a:rPr>
              <a:t> Her cevap için top1–top2 token olasılık farklarından özellik çıkarılma</a:t>
            </a:r>
            <a:endParaRPr lang="tr-TR" sz="1600" dirty="0">
              <a:solidFill>
                <a:srgbClr val="5B6773"/>
              </a:solidFill>
            </a:endParaRPr>
          </a:p>
          <a:p>
            <a:pPr marL="285750" indent="-285750">
              <a:buFont typeface="Arial"/>
              <a:buChar char="•"/>
              <a:defRPr sz="1350">
                <a:solidFill>
                  <a:srgbClr val="5B6773"/>
                </a:solidFill>
              </a:defRPr>
            </a:pPr>
            <a:r>
              <a:rPr lang="tr-TR" sz="1600">
                <a:solidFill>
                  <a:srgbClr val="5B6773"/>
                </a:solidFill>
              </a:rPr>
              <a:t> Bu özellikler kullanılarak Logistic Regression, Random Forest ve Gradient Boosting modelleriyle cevapların doğru ya da yanlış olduğu tahmin edilmeye çalışılma </a:t>
            </a:r>
            <a:endParaRPr lang="tr-TR" sz="1600" dirty="0">
              <a:solidFill>
                <a:srgbClr val="5B6773"/>
              </a:solidFill>
            </a:endParaRPr>
          </a:p>
          <a:p>
            <a:pPr>
              <a:defRPr sz="1350">
                <a:solidFill>
                  <a:srgbClr val="5B6773"/>
                </a:solidFill>
              </a:defRPr>
            </a:pPr>
            <a:endParaRPr lang="tr-TR" sz="1400" dirty="0">
              <a:solidFill>
                <a:srgbClr val="5B6773"/>
              </a:solidFill>
            </a:endParaRPr>
          </a:p>
          <a:p>
            <a:pPr>
              <a:defRPr sz="1350">
                <a:solidFill>
                  <a:srgbClr val="5B6773"/>
                </a:solidFill>
              </a:defRPr>
            </a:pPr>
            <a:endParaRPr lang="tr-TR" sz="1400" dirty="0">
              <a:solidFill>
                <a:srgbClr val="5B6773"/>
              </a:soli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5DC7ADD-2459-477A-8C02-E5F3F03ED242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1">
                <a:solidFill>
                  <a:srgbClr val="245B8F"/>
                </a:solidFill>
              </a:defRPr>
            </a:pPr>
            <a:endParaRPr lang="tr-TR" sz="900" b="1" dirty="0">
              <a:solidFill>
                <a:srgbClr val="245B8F"/>
              </a:soli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4D1AB4F-8945-4B09-97B8-048D3CDD8C58}"/>
              </a:ext>
            </a:extLst>
          </p:cNvPr>
          <p:cNvSpPr>
            <a:spLocks noGrp="1"/>
          </p:cNvSpPr>
          <p:nvPr/>
        </p:nvSpPr>
        <p:spPr>
          <a:xfrm>
            <a:off x="8496300" y="2438400"/>
            <a:ext cx="2724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950" b="1">
                <a:solidFill>
                  <a:srgbClr val="18212B"/>
                </a:solidFill>
              </a:defRPr>
            </a:pPr>
            <a:endParaRPr lang="tr-TR" sz="1950" b="1" dirty="0">
              <a:solidFill>
                <a:srgbClr val="18212B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3A4972C-434F-4977-9656-AB1114D98BAF}"/>
              </a:ext>
            </a:extLst>
          </p:cNvPr>
          <p:cNvSpPr>
            <a:spLocks noGrp="1"/>
          </p:cNvSpPr>
          <p:nvPr/>
        </p:nvSpPr>
        <p:spPr>
          <a:xfrm>
            <a:off x="8496300" y="3581400"/>
            <a:ext cx="27241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2EB70E94-E4DE-429A-B6AE-B9D466EDF3A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7137738-5CFD-490E-A923-10ACBA72252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633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3F74E654-01F7-470A-84BA-0B82C3589DD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Literatür </a:t>
            </a:r>
            <a:endParaRPr lang="tr-TR" sz="2850" b="1">
              <a:solidFill>
                <a:srgbClr val="18212B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53323A9-D737-48AD-8A59-DB8E8A32BB2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8E67C7CF-F8D4-4122-8F06-868FB04AB40D}"/>
              </a:ext>
            </a:extLst>
          </p:cNvPr>
          <p:cNvSpPr>
            <a:spLocks noGrp="1"/>
          </p:cNvSpPr>
          <p:nvPr/>
        </p:nvSpPr>
        <p:spPr>
          <a:xfrm>
            <a:off x="892791" y="5898392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650" b="1">
                <a:solidFill>
                  <a:srgbClr val="18212B"/>
                </a:solidFill>
              </a:defRPr>
            </a:pPr>
            <a:endParaRPr lang="tr-TR" sz="1650" b="1" dirty="0">
              <a:solidFill>
                <a:srgbClr val="18212B"/>
              </a:solidFill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5DE9D78B-6B7F-4726-81B2-49740D56C01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76002CFD-F06C-4032-B2EE-ADAEDFE4F9C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03</a:t>
            </a:r>
          </a:p>
        </p:txBody>
      </p:sp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C7DFF722-2868-482B-3CF9-7480C0F66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520162"/>
              </p:ext>
            </p:extLst>
          </p:nvPr>
        </p:nvGraphicFramePr>
        <p:xfrm>
          <a:off x="329820" y="1717342"/>
          <a:ext cx="11725700" cy="47085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1425">
                  <a:extLst>
                    <a:ext uri="{9D8B030D-6E8A-4147-A177-3AD203B41FA5}">
                      <a16:colId xmlns:a16="http://schemas.microsoft.com/office/drawing/2014/main" val="2491131610"/>
                    </a:ext>
                  </a:extLst>
                </a:gridCol>
                <a:gridCol w="2931425">
                  <a:extLst>
                    <a:ext uri="{9D8B030D-6E8A-4147-A177-3AD203B41FA5}">
                      <a16:colId xmlns:a16="http://schemas.microsoft.com/office/drawing/2014/main" val="3641643768"/>
                    </a:ext>
                  </a:extLst>
                </a:gridCol>
                <a:gridCol w="2931425">
                  <a:extLst>
                    <a:ext uri="{9D8B030D-6E8A-4147-A177-3AD203B41FA5}">
                      <a16:colId xmlns:a16="http://schemas.microsoft.com/office/drawing/2014/main" val="922704664"/>
                    </a:ext>
                  </a:extLst>
                </a:gridCol>
                <a:gridCol w="2931425">
                  <a:extLst>
                    <a:ext uri="{9D8B030D-6E8A-4147-A177-3AD203B41FA5}">
                      <a16:colId xmlns:a16="http://schemas.microsoft.com/office/drawing/2014/main" val="2834933800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Çalışma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Kullanılan token düzeyi sinyal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Temel yaklaşım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Bizim çalışmayla ilişkisi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050633"/>
                  </a:ext>
                </a:extLst>
              </a:tr>
              <a:tr h="77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HALT [4]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Üretim adımlarındaki entropi değişimi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Hallüsinasyonu gerçek zamanlı tespit eder; belirsizlik eşiği aşılınca uyarı üretir.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Token olasılık dağılımının hata oluşmadan önce sinyal verebileceğini destekler.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21005"/>
                  </a:ext>
                </a:extLst>
              </a:tr>
              <a:tr h="817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Entropy Sentinel [5]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Shannon entropisi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Yüksek entropiyi belirsizlik, düşük entropiyi kararlılık göstergesi olarak kullanır.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prop_low_01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 ve 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prop_low_02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 gibi düşük güven oranı özellikleri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162795"/>
                  </a:ext>
                </a:extLst>
              </a:tr>
              <a:tr h="77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ToKUR [6]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Top-k olasılık farkları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Top-k token olasılıklarını kullanıcıya güven göstergesi olarak raporlar.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Top1–Top2 farkının belirsizlik ölçütü olarak kullanılmasını destekler.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1500"/>
                  </a:ext>
                </a:extLst>
              </a:tr>
              <a:tr h="101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LogitScope [7]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Logit dağılımının zaman serisi özellikleri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Logit değişimini zaman boyunca izleyerek eğilim ve varyans tabanlı özellikler çıkarır.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trend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, 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std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, 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mean_first10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, </a:t>
                      </a:r>
                      <a:endParaRPr lang="tr-TR"/>
                    </a:p>
                    <a:p>
                      <a:pPr lvl="0">
                        <a:buNone/>
                      </a:pPr>
                      <a:r>
                        <a:rPr lang="tr-TR" sz="1400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mean_last10</a:t>
                      </a: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 gibi özelliklerin </a:t>
                      </a:r>
                      <a:r>
                        <a:rPr lang="tr-TR" sz="1400">
                          <a:solidFill>
                            <a:srgbClr val="000000"/>
                          </a:solidFill>
                        </a:rPr>
                        <a:t>seçimi</a:t>
                      </a:r>
                      <a:endParaRPr lang="tr-TR" sz="14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736987"/>
                  </a:ext>
                </a:extLst>
              </a:tr>
              <a:tr h="101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Bu çalışma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Top1–Top2 fark dizisi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Token düzeyindeki farklardan 14 özellik çıkarıp cevap doğruluğunu sınıflandırır.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>
                          <a:solidFill>
                            <a:srgbClr val="000000"/>
                          </a:solidFill>
                          <a:effectLst/>
                        </a:rPr>
                        <a:t>Türkçe matematik muhakemesi ve cevap düzeyinde doğru/yanlış tahmini yapılmıştır.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9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81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A5AB5B19-4612-4349-B865-128049B4B1E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 dirty="0">
                <a:solidFill>
                  <a:srgbClr val="18212B"/>
                </a:solidFill>
              </a:rPr>
              <a:t>Model, Veri </a:t>
            </a:r>
            <a:r>
              <a:rPr sz="2850" b="1" dirty="0" err="1">
                <a:solidFill>
                  <a:srgbClr val="18212B"/>
                </a:solidFill>
              </a:rPr>
              <a:t>Kümesi</a:t>
            </a:r>
            <a:r>
              <a:rPr sz="2850" b="1" dirty="0">
                <a:solidFill>
                  <a:srgbClr val="18212B"/>
                </a:solidFill>
              </a:rPr>
              <a:t> </a:t>
            </a:r>
            <a:r>
              <a:rPr sz="2850" b="1" dirty="0" err="1">
                <a:solidFill>
                  <a:srgbClr val="18212B"/>
                </a:solidFill>
              </a:rPr>
              <a:t>ve</a:t>
            </a:r>
            <a:r>
              <a:rPr sz="2850" b="1" dirty="0">
                <a:solidFill>
                  <a:srgbClr val="18212B"/>
                </a:solidFill>
              </a:rPr>
              <a:t> </a:t>
            </a:r>
            <a:r>
              <a:rPr sz="2850" b="1" dirty="0" err="1">
                <a:solidFill>
                  <a:srgbClr val="18212B"/>
                </a:solidFill>
              </a:rPr>
              <a:t>Etiketleme</a:t>
            </a:r>
            <a:endParaRPr lang="tr-TR" sz="2850" b="1" dirty="0" err="1">
              <a:solidFill>
                <a:srgbClr val="18212B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E78E7AC-853D-4BAF-B453-9C1155A77E8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B0CA7EE0-CE7A-419D-8670-8442DAFE1B8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333750" cy="3543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28D19A1-FF82-49F0-8EA8-9568D86F36E5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245B8F"/>
                </a:solidFill>
              </a:defRPr>
            </a:pPr>
            <a:r>
              <a:rPr sz="900" b="1">
                <a:solidFill>
                  <a:srgbClr val="245B8F"/>
                </a:solidFill>
              </a:rPr>
              <a:t>MODEL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B9AE96E-CF7F-4074-AEBD-E5176ABCD2B5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819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8212B"/>
                </a:solidFill>
              </a:defRPr>
            </a:pPr>
            <a:r>
              <a:rPr sz="1800" b="1">
                <a:solidFill>
                  <a:srgbClr val="18212B"/>
                </a:solidFill>
              </a:rPr>
              <a:t>Turkish-Gemma-9B-T1</a:t>
            </a:r>
          </a:p>
          <a:p>
            <a:pPr>
              <a:defRPr sz="1800" b="1">
                <a:solidFill>
                  <a:srgbClr val="18212B"/>
                </a:solidFill>
              </a:defRPr>
            </a:pPr>
            <a:r>
              <a:rPr sz="1800" b="1">
                <a:solidFill>
                  <a:srgbClr val="18212B"/>
                </a:solidFill>
              </a:rPr>
              <a:t>(Cosmos-T1)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B5690E2-90CD-4CED-82EE-E8C212289C5C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27241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275">
                <a:solidFill>
                  <a:srgbClr val="5B6773"/>
                </a:solidFill>
              </a:defRPr>
            </a:pPr>
            <a:r>
              <a:rPr sz="1250">
                <a:solidFill>
                  <a:srgbClr val="5B6773"/>
                </a:solidFill>
              </a:rPr>
              <a:t>Hugging </a:t>
            </a:r>
            <a:r>
              <a:rPr lang="tr-TR" sz="1250">
                <a:solidFill>
                  <a:srgbClr val="5B6773"/>
                </a:solidFill>
              </a:rPr>
              <a:t>Face'de</a:t>
            </a:r>
            <a:r>
              <a:rPr sz="1250">
                <a:solidFill>
                  <a:srgbClr val="5B6773"/>
                </a:solidFill>
              </a:rPr>
              <a:t> model </a:t>
            </a:r>
            <a:r>
              <a:rPr lang="tr-TR" sz="1250">
                <a:solidFill>
                  <a:srgbClr val="5B6773"/>
                </a:solidFill>
              </a:rPr>
              <a:t>kartında tavsiye edilen:</a:t>
            </a:r>
            <a:endParaRPr lang="tr-TR" sz="1250" dirty="0">
              <a:solidFill>
                <a:srgbClr val="5B6773"/>
              </a:solidFill>
            </a:endParaRPr>
          </a:p>
          <a:p>
            <a:pPr>
              <a:defRPr sz="1275">
                <a:solidFill>
                  <a:srgbClr val="5B6773"/>
                </a:solidFill>
              </a:defRPr>
            </a:pPr>
            <a:r>
              <a:rPr sz="1250">
                <a:solidFill>
                  <a:srgbClr val="5B6773"/>
                </a:solidFill>
              </a:rPr>
              <a:t> temperature=0.6, </a:t>
            </a:r>
            <a:endParaRPr lang="tr-TR" sz="1250">
              <a:solidFill>
                <a:srgbClr val="5B6773"/>
              </a:solidFill>
            </a:endParaRPr>
          </a:p>
          <a:p>
            <a:pPr>
              <a:defRPr sz="1275">
                <a:solidFill>
                  <a:srgbClr val="5B6773"/>
                </a:solidFill>
              </a:defRPr>
            </a:pPr>
            <a:r>
              <a:rPr sz="1250" dirty="0" err="1">
                <a:solidFill>
                  <a:srgbClr val="5B6773"/>
                </a:solidFill>
              </a:rPr>
              <a:t>top_p</a:t>
            </a:r>
            <a:r>
              <a:rPr sz="1250" dirty="0">
                <a:solidFill>
                  <a:srgbClr val="5B6773"/>
                </a:solidFill>
              </a:rPr>
              <a:t>=0.95, </a:t>
            </a:r>
            <a:endParaRPr lang="tr-TR" sz="1250" dirty="0">
              <a:solidFill>
                <a:srgbClr val="5B6773"/>
              </a:solidFill>
            </a:endParaRPr>
          </a:p>
          <a:p>
            <a:pPr>
              <a:defRPr sz="1275">
                <a:solidFill>
                  <a:srgbClr val="5B6773"/>
                </a:solidFill>
              </a:defRPr>
            </a:pPr>
            <a:r>
              <a:rPr sz="1250" dirty="0" err="1">
                <a:solidFill>
                  <a:srgbClr val="5B6773"/>
                </a:solidFill>
              </a:rPr>
              <a:t>top_k</a:t>
            </a:r>
            <a:r>
              <a:rPr sz="1250" dirty="0">
                <a:solidFill>
                  <a:srgbClr val="5B6773"/>
                </a:solidFill>
              </a:rPr>
              <a:t>=20</a:t>
            </a:r>
            <a:endParaRPr dirty="0"/>
          </a:p>
          <a:p>
            <a:pPr>
              <a:defRPr sz="1275">
                <a:solidFill>
                  <a:srgbClr val="5B6773"/>
                </a:solidFill>
              </a:defRPr>
            </a:pPr>
            <a:endParaRPr sz="1250" dirty="0">
              <a:solidFill>
                <a:srgbClr val="5B6773"/>
              </a:solidFill>
            </a:endParaRPr>
          </a:p>
          <a:p>
            <a:pPr>
              <a:defRPr sz="1275">
                <a:solidFill>
                  <a:srgbClr val="5B6773"/>
                </a:solidFill>
              </a:defRPr>
            </a:pPr>
            <a:endParaRPr sz="1250" dirty="0">
              <a:solidFill>
                <a:srgbClr val="5B6773"/>
              </a:solidFill>
            </a:endParaRP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DE6584AF-8470-4096-83AB-DC6029FBCFB2}"/>
              </a:ext>
            </a:extLst>
          </p:cNvPr>
          <p:cNvSpPr>
            <a:spLocks noGrp="1"/>
          </p:cNvSpPr>
          <p:nvPr/>
        </p:nvSpPr>
        <p:spPr>
          <a:xfrm>
            <a:off x="4438650" y="1752600"/>
            <a:ext cx="3333750" cy="3543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6CE9599-D52F-42DB-9955-7078744C36E2}"/>
              </a:ext>
            </a:extLst>
          </p:cNvPr>
          <p:cNvSpPr>
            <a:spLocks noGrp="1"/>
          </p:cNvSpPr>
          <p:nvPr/>
        </p:nvSpPr>
        <p:spPr>
          <a:xfrm>
            <a:off x="4667250" y="2038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2E7D5B"/>
                </a:solidFill>
              </a:defRPr>
            </a:pPr>
            <a:r>
              <a:rPr sz="900" b="1">
                <a:solidFill>
                  <a:srgbClr val="2E7D5B"/>
                </a:solidFill>
              </a:rPr>
              <a:t>VERI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55A2B21-F4E9-4AE6-AC8C-445D792986D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8212B"/>
                </a:solidFill>
              </a:defRPr>
            </a:pPr>
            <a:r>
              <a:rPr sz="2100" b="1">
                <a:solidFill>
                  <a:srgbClr val="18212B"/>
                </a:solidFill>
              </a:rPr>
              <a:t>gsm8k_tr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16178B2-EECC-4B4E-8B4B-D8D1EB514435}"/>
              </a:ext>
            </a:extLst>
          </p:cNvPr>
          <p:cNvSpPr>
            <a:spLocks noGrp="1"/>
          </p:cNvSpPr>
          <p:nvPr/>
        </p:nvSpPr>
        <p:spPr>
          <a:xfrm>
            <a:off x="4667250" y="3219450"/>
            <a:ext cx="27241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B6773"/>
                </a:solidFill>
              </a:defRPr>
            </a:pPr>
            <a:r>
              <a:rPr sz="1275">
                <a:solidFill>
                  <a:srgbClr val="5B6773"/>
                </a:solidFill>
              </a:rPr>
              <a:t>• Türkçe matematik problemi veri kümesi</a:t>
            </a:r>
          </a:p>
          <a:p>
            <a:pPr>
              <a:defRPr sz="1275">
                <a:solidFill>
                  <a:srgbClr val="5B6773"/>
                </a:solidFill>
              </a:defRPr>
            </a:pPr>
            <a:r>
              <a:rPr sz="1275">
                <a:solidFill>
                  <a:srgbClr val="5B6773"/>
                </a:solidFill>
              </a:rPr>
              <a:t>• sorular DeepL ile Türkçeye çevrilmiş</a:t>
            </a:r>
          </a:p>
          <a:p>
            <a:pPr>
              <a:defRPr sz="1275">
                <a:solidFill>
                  <a:srgbClr val="5B6773"/>
                </a:solidFill>
              </a:defRPr>
            </a:pPr>
            <a:r>
              <a:rPr sz="1275">
                <a:solidFill>
                  <a:srgbClr val="5B6773"/>
                </a:solidFill>
              </a:rPr>
              <a:t>• cevaplar Türkçe sorulardan GPT-4o ile yeniden üretilmiş</a:t>
            </a:r>
          </a:p>
          <a:p>
            <a:pPr>
              <a:defRPr sz="1275">
                <a:solidFill>
                  <a:srgbClr val="5B6773"/>
                </a:solidFill>
              </a:defRPr>
            </a:pPr>
            <a:r>
              <a:rPr sz="1275">
                <a:solidFill>
                  <a:srgbClr val="5B6773"/>
                </a:solidFill>
              </a:rPr>
              <a:t>• cevaplar düz metin; sayı çıkarımı gerekli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D37EC90C-5F8C-4672-90A6-2D36800AFA47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3333750" cy="3543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AD433FE-CB31-4626-8914-128CFDD79D2C}"/>
              </a:ext>
            </a:extLst>
          </p:cNvPr>
          <p:cNvSpPr>
            <a:spLocks noGrp="1"/>
          </p:cNvSpPr>
          <p:nvPr/>
        </p:nvSpPr>
        <p:spPr>
          <a:xfrm>
            <a:off x="8420100" y="2038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C86B38"/>
                </a:solidFill>
              </a:defRPr>
            </a:pPr>
            <a:r>
              <a:rPr sz="900" b="1">
                <a:solidFill>
                  <a:srgbClr val="C86B38"/>
                </a:solidFill>
              </a:rPr>
              <a:t>ETIKET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8B1BEC9-4F66-436A-959F-056A4FB5823D}"/>
              </a:ext>
            </a:extLst>
          </p:cNvPr>
          <p:cNvSpPr>
            <a:spLocks noGrp="1"/>
          </p:cNvSpPr>
          <p:nvPr/>
        </p:nvSpPr>
        <p:spPr>
          <a:xfrm>
            <a:off x="8420100" y="2381250"/>
            <a:ext cx="2686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 b="1">
                <a:solidFill>
                  <a:srgbClr val="18212B"/>
                </a:solidFill>
              </a:defRPr>
            </a:pPr>
            <a:r>
              <a:rPr sz="1800" b="1" dirty="0">
                <a:solidFill>
                  <a:srgbClr val="18212B"/>
                </a:solidFill>
              </a:rPr>
              <a:t>gold = </a:t>
            </a:r>
            <a:r>
              <a:rPr lang="tr-TR" b="1">
                <a:solidFill>
                  <a:srgbClr val="18212B"/>
                </a:solidFill>
              </a:rPr>
              <a:t>cevap</a:t>
            </a:r>
            <a:endParaRPr lang="tr-TR" sz="1800" b="1" dirty="0">
              <a:solidFill>
                <a:srgbClr val="18212B"/>
              </a:solidFill>
            </a:endParaRPr>
          </a:p>
          <a:p>
            <a:pPr>
              <a:defRPr sz="1800" b="1">
                <a:solidFill>
                  <a:srgbClr val="18212B"/>
                </a:solidFill>
              </a:defRPr>
            </a:pPr>
            <a:r>
              <a:rPr sz="1800" b="1" dirty="0">
                <a:solidFill>
                  <a:srgbClr val="18212B"/>
                </a:solidFill>
              </a:rPr>
              <a:t>pred = model </a:t>
            </a:r>
            <a:r>
              <a:rPr sz="1800" b="1" dirty="0" err="1">
                <a:solidFill>
                  <a:srgbClr val="18212B"/>
                </a:solidFill>
              </a:rPr>
              <a:t>cevabı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DFC8283-9886-477D-A72A-76BEFA7E5744}"/>
              </a:ext>
            </a:extLst>
          </p:cNvPr>
          <p:cNvSpPr>
            <a:spLocks noGrp="1"/>
          </p:cNvSpPr>
          <p:nvPr/>
        </p:nvSpPr>
        <p:spPr>
          <a:xfrm>
            <a:off x="8420100" y="3238500"/>
            <a:ext cx="2724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 dirty="0">
                <a:solidFill>
                  <a:srgbClr val="5B6773"/>
                </a:solidFill>
              </a:rPr>
              <a:t>Örnek: gold=2.0, pred=2.0 </a:t>
            </a:r>
            <a:r>
              <a:rPr sz="1350" dirty="0" err="1">
                <a:solidFill>
                  <a:srgbClr val="5B6773"/>
                </a:solidFill>
              </a:rPr>
              <a:t>ise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modelin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sayısal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cevabı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altın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cevapla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aynı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olduğu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için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etiket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doğru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olur</a:t>
            </a:r>
            <a:r>
              <a:rPr sz="1350" dirty="0">
                <a:solidFill>
                  <a:srgbClr val="5B6773"/>
                </a:solidFill>
              </a:rPr>
              <a:t>.</a:t>
            </a:r>
          </a:p>
          <a:p>
            <a:pPr>
              <a:defRPr sz="1350">
                <a:solidFill>
                  <a:srgbClr val="5B6773"/>
                </a:solidFill>
              </a:defRPr>
            </a:pPr>
            <a:endParaRPr lang="en-US" sz="1350" dirty="0">
              <a:ea typeface="+mn-lt"/>
              <a:cs typeface="+mn-lt"/>
            </a:endParaRPr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en-US" sz="1350" dirty="0">
                <a:ea typeface="+mn-lt"/>
                <a:cs typeface="+mn-lt"/>
              </a:rPr>
              <a:t>Aşağıdaki </a:t>
            </a:r>
            <a:r>
              <a:rPr lang="en-US" sz="1350" dirty="0" err="1">
                <a:ea typeface="+mn-lt"/>
                <a:cs typeface="+mn-lt"/>
              </a:rPr>
              <a:t>örnekler</a:t>
            </a:r>
            <a:r>
              <a:rPr lang="en-US" sz="1350" dirty="0">
                <a:ea typeface="+mn-lt"/>
                <a:cs typeface="+mn-lt"/>
              </a:rPr>
              <a:t>:</a:t>
            </a:r>
            <a:endParaRPr lang="en-US"/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delta = 0.93 − 0.04 = 0.89 → Model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çok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emin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belirsizlik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 yok.</a:t>
            </a:r>
            <a:endParaRPr lang="tr-TR" sz="1350" dirty="0">
              <a:solidFill>
                <a:srgbClr val="5B6773"/>
              </a:solidFill>
              <a:ea typeface="+mn-lt"/>
              <a:cs typeface="+mn-lt"/>
            </a:endParaRPr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 delta = 0.33 − 0.29 = 0.04 → İki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kelime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neredeyse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eşit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, model </a:t>
            </a:r>
            <a:r>
              <a:rPr lang="en-US" sz="1350" dirty="0" err="1">
                <a:solidFill>
                  <a:srgbClr val="5B6773"/>
                </a:solidFill>
                <a:ea typeface="+mn-lt"/>
                <a:cs typeface="+mn-lt"/>
              </a:rPr>
              <a:t>kararsız</a:t>
            </a:r>
            <a:r>
              <a:rPr lang="en-US" sz="1350" dirty="0">
                <a:solidFill>
                  <a:srgbClr val="5B6773"/>
                </a:solidFill>
                <a:ea typeface="+mn-lt"/>
                <a:cs typeface="+mn-lt"/>
              </a:rPr>
              <a:t>.</a:t>
            </a:r>
            <a:r>
              <a:rPr lang="en-US" sz="1350" dirty="0">
                <a:ea typeface="+mn-lt"/>
                <a:cs typeface="+mn-lt"/>
              </a:rPr>
              <a:t> </a:t>
            </a:r>
            <a:endParaRPr lang="tr-TR" sz="1350" dirty="0">
              <a:ea typeface="+mn-lt"/>
              <a:cs typeface="+mn-lt"/>
            </a:endParaRP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CAF2D5C-4565-4AD6-B2AA-38556B06105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F87AACF1-6A07-41FB-BE2F-D54D8E0F028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04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F5F0593-C2ED-3561-09EA-1A94AB014F6B}"/>
              </a:ext>
            </a:extLst>
          </p:cNvPr>
          <p:cNvSpPr txBox="1"/>
          <p:nvPr/>
        </p:nvSpPr>
        <p:spPr>
          <a:xfrm>
            <a:off x="7824717" y="5294194"/>
            <a:ext cx="4071581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Örnek 1 — Yüksek delta (model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kararlı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)</a:t>
            </a:r>
            <a:endParaRPr lang="tr-TR"/>
          </a:p>
          <a:p>
            <a:pPr algn="just"/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Soru: "Ahmet 5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elma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aldı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, 3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tane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yedi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.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Kaç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elma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kaldı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?"</a:t>
            </a:r>
            <a:br>
              <a:rPr lang="en-US" sz="1100" dirty="0">
                <a:latin typeface="Anthropic Sans"/>
                <a:ea typeface="Anthropic Sans"/>
                <a:cs typeface="Anthropic Sans"/>
              </a:rPr>
            </a:b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Model "2"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yazacak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adımda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:</a:t>
            </a:r>
          </a:p>
          <a:p>
            <a:pPr algn="just"/>
            <a:endParaRPr lang="en-US" sz="1100" dirty="0">
              <a:solidFill>
                <a:srgbClr val="0A0A0A"/>
              </a:solidFill>
              <a:latin typeface="Anthropic Sans"/>
              <a:ea typeface="Anthropic Sans"/>
              <a:cs typeface="Anthropic Sans"/>
            </a:endParaRPr>
          </a:p>
          <a:p>
            <a:pPr algn="just"/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delta = 0.93 − 0.04 = 0.89 → Model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çok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emin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, </a:t>
            </a:r>
            <a:r>
              <a:rPr lang="en-US" sz="1100" dirty="0" err="1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belirsizlik</a:t>
            </a:r>
            <a:r>
              <a:rPr lang="en-US" sz="1100" dirty="0">
                <a:solidFill>
                  <a:srgbClr val="0A0A0A"/>
                </a:solidFill>
                <a:latin typeface="Anthropic Sans"/>
                <a:ea typeface="Anthropic Sans"/>
                <a:cs typeface="Anthropic Sans"/>
              </a:rPr>
              <a:t> yok.</a:t>
            </a:r>
          </a:p>
          <a:p>
            <a:pPr algn="just"/>
            <a:endParaRPr lang="en-US" sz="1100" dirty="0">
              <a:solidFill>
                <a:srgbClr val="0A0A0A"/>
              </a:solidFill>
              <a:latin typeface="Anthropic Sans"/>
              <a:ea typeface="Anthropic Sans"/>
              <a:cs typeface="Anthropic Sans"/>
            </a:endParaRPr>
          </a:p>
          <a:p>
            <a:pPr algn="just"/>
            <a:endParaRPr lang="en-US" sz="1100" dirty="0">
              <a:solidFill>
                <a:srgbClr val="0A0A0A"/>
              </a:solidFill>
              <a:latin typeface="Anthropic Sans"/>
              <a:ea typeface="Anthropic Sans"/>
              <a:cs typeface="Anthropic Sans"/>
            </a:endParaRPr>
          </a:p>
          <a:p>
            <a:pPr algn="just"/>
            <a:endParaRPr lang="en-US" sz="1100" dirty="0">
              <a:solidFill>
                <a:srgbClr val="0A0A0A"/>
              </a:solidFill>
              <a:latin typeface="Anthropic Sans"/>
              <a:ea typeface="Anthropic Sans"/>
              <a:cs typeface="Anthropic Sans"/>
            </a:endParaRPr>
          </a:p>
          <a:p>
            <a:pPr algn="just"/>
            <a:endParaRPr lang="en-US" sz="1100" dirty="0">
              <a:solidFill>
                <a:srgbClr val="0A0A0A"/>
              </a:solidFill>
              <a:latin typeface="Anthropic Sans"/>
              <a:ea typeface="Anthropic Sans"/>
              <a:cs typeface="Anthropic Sans"/>
            </a:endParaRPr>
          </a:p>
          <a:p>
            <a:pPr algn="just"/>
            <a:endParaRPr lang="tr-TR" sz="1100" dirty="0"/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CBDB9534-9B3B-25A7-5AE8-6BD974145F11}"/>
              </a:ext>
            </a:extLst>
          </p:cNvPr>
          <p:cNvSpPr txBox="1"/>
          <p:nvPr/>
        </p:nvSpPr>
        <p:spPr>
          <a:xfrm>
            <a:off x="665328" y="5442045"/>
            <a:ext cx="6096000" cy="1638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125"/>
              </a:lnSpc>
            </a:pP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Örnek 2 — 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Düşük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 delta (model 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belirsiz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)</a:t>
            </a:r>
            <a:endParaRPr lang="tr-TR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>
              <a:lnSpc>
                <a:spcPts val="1125"/>
              </a:lnSpc>
            </a:pP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Aynı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soruda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 "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kaldı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" 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kelimesini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yazacak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0A0A0A"/>
                </a:solidFill>
                <a:ea typeface="+mn-lt"/>
                <a:cs typeface="+mn-lt"/>
              </a:rPr>
              <a:t>adımda</a:t>
            </a:r>
            <a:r>
              <a:rPr lang="en-US" sz="1100" dirty="0">
                <a:solidFill>
                  <a:srgbClr val="0A0A0A"/>
                </a:solidFill>
                <a:ea typeface="+mn-lt"/>
                <a:cs typeface="+mn-lt"/>
              </a:rPr>
              <a:t>:</a:t>
            </a:r>
            <a:endParaRPr lang="tr-TR"/>
          </a:p>
          <a:p>
            <a:pPr algn="just">
              <a:lnSpc>
                <a:spcPts val="1125"/>
              </a:lnSpc>
            </a:pP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delta = 0.33 − 0.29 = 0.04 → İki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kelime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neredeyse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eşit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, model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kararsız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.</a:t>
            </a:r>
            <a:r>
              <a:rPr lang="en-US" sz="1100" dirty="0">
                <a:latin typeface="Anthropic Sans"/>
                <a:ea typeface="Segoe UI"/>
                <a:cs typeface="Segoe UI"/>
              </a:rPr>
              <a:t>​</a:t>
            </a:r>
            <a:endParaRPr lang="tr-TR"/>
          </a:p>
          <a:p>
            <a:pPr algn="just" rtl="0">
              <a:lnSpc>
                <a:spcPts val="1125"/>
              </a:lnSpc>
            </a:pPr>
            <a:endParaRPr lang="en-US" sz="1100" dirty="0">
              <a:solidFill>
                <a:srgbClr val="0A0A0A"/>
              </a:solidFill>
              <a:latin typeface="Anthropic Sans"/>
              <a:ea typeface="Segoe UI"/>
              <a:cs typeface="Segoe UI"/>
            </a:endParaRPr>
          </a:p>
          <a:p>
            <a:pPr algn="just">
              <a:lnSpc>
                <a:spcPts val="1125"/>
              </a:lnSpc>
            </a:pPr>
            <a:r>
              <a:rPr lang="en-US" sz="1100" baseline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Örnek 3 — </a:t>
            </a:r>
            <a:r>
              <a:rPr lang="en-US" sz="1100" baseline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Yanlış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cevap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veren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model</a:t>
            </a:r>
            <a:r>
              <a:rPr lang="en-US" sz="1100" dirty="0">
                <a:latin typeface="Anthropic Sans"/>
                <a:ea typeface="Segoe UI"/>
                <a:cs typeface="Segoe UI"/>
              </a:rPr>
              <a:t>​</a:t>
            </a:r>
            <a:endParaRPr lang="en-US"/>
          </a:p>
          <a:p>
            <a:pPr algn="just" rtl="0">
              <a:lnSpc>
                <a:spcPts val="1125"/>
              </a:lnSpc>
            </a:pP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Model "12"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yazması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gerekirken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"10"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yazdığı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durumda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, o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adımda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:</a:t>
            </a:r>
            <a:r>
              <a:rPr lang="en-US" sz="1100" dirty="0">
                <a:latin typeface="Anthropic Sans"/>
                <a:ea typeface="Segoe UI"/>
                <a:cs typeface="Segoe UI"/>
              </a:rPr>
              <a:t>​</a:t>
            </a:r>
          </a:p>
          <a:p>
            <a:pPr algn="just" rtl="0">
              <a:lnSpc>
                <a:spcPts val="1125"/>
              </a:lnSpc>
            </a:pPr>
            <a:r>
              <a:rPr lang="en-US" sz="1100">
                <a:latin typeface="Anthropic Sans"/>
                <a:ea typeface="Segoe UI"/>
                <a:cs typeface="Segoe UI"/>
              </a:rPr>
              <a:t>​</a:t>
            </a:r>
          </a:p>
          <a:p>
            <a:pPr algn="just" rtl="0">
              <a:lnSpc>
                <a:spcPts val="1125"/>
              </a:lnSpc>
            </a:pP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delta = 0.41 − 0.38 = 0.03 → Doğru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cevap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("12") top2'de. Model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yanlış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tercih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yaptı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ama fark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çok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küçük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—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belirsizlik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 </a:t>
            </a:r>
            <a:r>
              <a:rPr lang="en-US" sz="1100" baseline="0" dirty="0" err="1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yüksekti</a:t>
            </a:r>
            <a:r>
              <a:rPr lang="en-US" sz="1100" baseline="0" dirty="0">
                <a:solidFill>
                  <a:srgbClr val="0A0A0A"/>
                </a:solidFill>
                <a:latin typeface="Anthropic Sans"/>
                <a:ea typeface="Segoe UI"/>
                <a:cs typeface="Segoe UI"/>
              </a:rPr>
              <a:t>.</a:t>
            </a:r>
          </a:p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694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C51D9044-D368-46C8-B39E-DD4547960A5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 dirty="0">
                <a:solidFill>
                  <a:srgbClr val="18212B"/>
                </a:solidFill>
              </a:rPr>
              <a:t>Veri </a:t>
            </a:r>
            <a:r>
              <a:rPr sz="2850" b="1" err="1">
                <a:solidFill>
                  <a:srgbClr val="18212B"/>
                </a:solidFill>
              </a:rPr>
              <a:t>ve</a:t>
            </a:r>
            <a:r>
              <a:rPr sz="2850" b="1">
                <a:solidFill>
                  <a:srgbClr val="18212B"/>
                </a:solidFill>
              </a:rPr>
              <a:t> Model </a:t>
            </a:r>
            <a:endParaRPr lang="tr-TR" sz="2850" b="1" dirty="0">
              <a:solidFill>
                <a:srgbClr val="18212B"/>
              </a:solidFill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F7EB643-1587-4C70-A967-84605954602F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16E9DCF-3139-4AA0-A43D-F16C29225C8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390A5FD0-BCEC-4F32-B13B-F3815D3F660E}"/>
              </a:ext>
            </a:extLst>
          </p:cNvPr>
          <p:cNvSpPr>
            <a:spLocks noGrp="1"/>
          </p:cNvSpPr>
          <p:nvPr/>
        </p:nvSpPr>
        <p:spPr>
          <a:xfrm>
            <a:off x="647700" y="1676400"/>
            <a:ext cx="5200650" cy="26098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29" name="Resi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3415" y="1673664"/>
            <a:ext cx="5450878" cy="2519853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2D93474C-DF81-42A9-B385-013AE7BE438D}"/>
              </a:ext>
            </a:extLst>
          </p:cNvPr>
          <p:cNvSpPr>
            <a:spLocks noGrp="1"/>
          </p:cNvSpPr>
          <p:nvPr/>
        </p:nvSpPr>
        <p:spPr>
          <a:xfrm>
            <a:off x="765941" y="4378872"/>
            <a:ext cx="464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200">
                <a:solidFill>
                  <a:srgbClr val="18212B"/>
                </a:solidFill>
              </a:defRPr>
            </a:pPr>
            <a:r>
              <a:rPr sz="1200" dirty="0">
                <a:solidFill>
                  <a:srgbClr val="18212B"/>
                </a:solidFill>
              </a:rPr>
              <a:t>question: </a:t>
            </a:r>
            <a:r>
              <a:rPr sz="1200" dirty="0" err="1">
                <a:solidFill>
                  <a:srgbClr val="18212B"/>
                </a:solidFill>
              </a:rPr>
              <a:t>Türkçe</a:t>
            </a:r>
            <a:r>
              <a:rPr sz="1200" dirty="0">
                <a:solidFill>
                  <a:srgbClr val="18212B"/>
                </a:solidFill>
              </a:rPr>
              <a:t> </a:t>
            </a:r>
            <a:r>
              <a:rPr sz="1200" dirty="0" err="1">
                <a:solidFill>
                  <a:srgbClr val="18212B"/>
                </a:solidFill>
              </a:rPr>
              <a:t>matematik</a:t>
            </a:r>
            <a:r>
              <a:rPr sz="1200" dirty="0">
                <a:solidFill>
                  <a:srgbClr val="18212B"/>
                </a:solidFill>
              </a:rPr>
              <a:t> </a:t>
            </a:r>
            <a:r>
              <a:rPr sz="1200" dirty="0" err="1">
                <a:solidFill>
                  <a:srgbClr val="18212B"/>
                </a:solidFill>
              </a:rPr>
              <a:t>problemi</a:t>
            </a:r>
            <a:endParaRPr lang="tr-TR" sz="1200" dirty="0" err="1">
              <a:solidFill>
                <a:srgbClr val="18212B"/>
              </a:solidFill>
            </a:endParaRPr>
          </a:p>
          <a:p>
            <a:pPr>
              <a:defRPr sz="1200">
                <a:solidFill>
                  <a:srgbClr val="18212B"/>
                </a:solidFill>
              </a:defRPr>
            </a:pPr>
            <a:r>
              <a:rPr sz="1200" dirty="0">
                <a:solidFill>
                  <a:srgbClr val="18212B"/>
                </a:solidFill>
              </a:rPr>
              <a:t>answer: </a:t>
            </a:r>
            <a:r>
              <a:rPr sz="1200" dirty="0" err="1">
                <a:solidFill>
                  <a:srgbClr val="18212B"/>
                </a:solidFill>
              </a:rPr>
              <a:t>çözüm</a:t>
            </a:r>
            <a:r>
              <a:rPr sz="1200" dirty="0">
                <a:solidFill>
                  <a:srgbClr val="18212B"/>
                </a:solidFill>
              </a:rPr>
              <a:t> </a:t>
            </a:r>
            <a:r>
              <a:rPr sz="1200" dirty="0" err="1">
                <a:solidFill>
                  <a:srgbClr val="18212B"/>
                </a:solidFill>
              </a:rPr>
              <a:t>metni</a:t>
            </a:r>
            <a:r>
              <a:rPr sz="1200" dirty="0">
                <a:solidFill>
                  <a:srgbClr val="18212B"/>
                </a:solidFill>
              </a:rPr>
              <a:t>; son </a:t>
            </a:r>
            <a:r>
              <a:rPr sz="1200" dirty="0" err="1">
                <a:solidFill>
                  <a:srgbClr val="18212B"/>
                </a:solidFill>
              </a:rPr>
              <a:t>sayısal</a:t>
            </a:r>
            <a:r>
              <a:rPr sz="1200" dirty="0">
                <a:solidFill>
                  <a:srgbClr val="18212B"/>
                </a:solidFill>
              </a:rPr>
              <a:t> </a:t>
            </a:r>
            <a:r>
              <a:rPr sz="1200" dirty="0" err="1">
                <a:solidFill>
                  <a:srgbClr val="18212B"/>
                </a:solidFill>
              </a:rPr>
              <a:t>değer</a:t>
            </a:r>
            <a:r>
              <a:rPr sz="1200" dirty="0">
                <a:solidFill>
                  <a:srgbClr val="18212B"/>
                </a:solidFill>
              </a:rPr>
              <a:t> gold </a:t>
            </a:r>
            <a:r>
              <a:rPr sz="1200" dirty="0" err="1">
                <a:solidFill>
                  <a:srgbClr val="18212B"/>
                </a:solidFill>
              </a:rPr>
              <a:t>cevap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AB180779-FEE0-40A6-8941-0EAB49A831F6}"/>
              </a:ext>
            </a:extLst>
          </p:cNvPr>
          <p:cNvSpPr>
            <a:spLocks noGrp="1"/>
          </p:cNvSpPr>
          <p:nvPr/>
        </p:nvSpPr>
        <p:spPr>
          <a:xfrm>
            <a:off x="6343650" y="1693459"/>
            <a:ext cx="5223396" cy="3036343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FDA9F19-C76D-4E0D-B11C-4FCD0E0AAEA6}"/>
              </a:ext>
            </a:extLst>
          </p:cNvPr>
          <p:cNvSpPr>
            <a:spLocks noGrp="1"/>
          </p:cNvSpPr>
          <p:nvPr/>
        </p:nvSpPr>
        <p:spPr>
          <a:xfrm>
            <a:off x="6629400" y="1962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1">
                <a:solidFill>
                  <a:srgbClr val="245B8F"/>
                </a:solidFill>
              </a:defRPr>
            </a:pPr>
            <a:r>
              <a:rPr sz="900" b="1">
                <a:solidFill>
                  <a:srgbClr val="245B8F"/>
                </a:solidFill>
              </a:rPr>
              <a:t>MODEL TARAFI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EEDBEA2-9041-4E80-BEB5-F2FB05654C67}"/>
              </a:ext>
            </a:extLst>
          </p:cNvPr>
          <p:cNvSpPr>
            <a:spLocks noGrp="1"/>
          </p:cNvSpPr>
          <p:nvPr/>
        </p:nvSpPr>
        <p:spPr>
          <a:xfrm>
            <a:off x="6629400" y="2305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Girdi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AB8B750-BB58-41FE-8D58-47D40851A708}"/>
              </a:ext>
            </a:extLst>
          </p:cNvPr>
          <p:cNvSpPr>
            <a:spLocks noGrp="1"/>
          </p:cNvSpPr>
          <p:nvPr/>
        </p:nvSpPr>
        <p:spPr>
          <a:xfrm>
            <a:off x="6629400" y="26289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 dirty="0">
                <a:solidFill>
                  <a:srgbClr val="5B6773"/>
                </a:solidFill>
              </a:rPr>
              <a:t>Chat </a:t>
            </a:r>
            <a:r>
              <a:rPr sz="1350" dirty="0" err="1">
                <a:solidFill>
                  <a:srgbClr val="5B6773"/>
                </a:solidFill>
              </a:rPr>
              <a:t>formatında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verilen</a:t>
            </a:r>
            <a:r>
              <a:rPr sz="1350" dirty="0">
                <a:solidFill>
                  <a:srgbClr val="5B6773"/>
                </a:solidFill>
              </a:rPr>
              <a:t> prompt + </a:t>
            </a:r>
            <a:r>
              <a:rPr sz="1350" dirty="0" err="1">
                <a:solidFill>
                  <a:srgbClr val="5B6773"/>
                </a:solidFill>
              </a:rPr>
              <a:t>soru</a:t>
            </a:r>
            <a:endParaRPr lang="tr-TR" sz="1350">
              <a:solidFill>
                <a:srgbClr val="5B6773"/>
              </a:solidFill>
            </a:endParaRPr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tr-TR" sz="1100">
                <a:solidFill>
                  <a:srgbClr val="A31515"/>
                </a:solidFill>
                <a:highlight>
                  <a:srgbClr val="FFFFFF"/>
                </a:highlight>
                <a:ea typeface="+mn-lt"/>
                <a:cs typeface="+mn-lt"/>
              </a:rPr>
              <a:t>"Soruya kısa ve net cevap ver. "</a:t>
            </a:r>
            <a:endParaRPr lang="tr-TR"/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tr-TR" sz="1100">
                <a:solidFill>
                  <a:srgbClr val="A31515"/>
                </a:solidFill>
                <a:highlight>
                  <a:srgbClr val="FFFFFF"/>
                </a:highlight>
                <a:ea typeface="+mn-lt"/>
                <a:cs typeface="+mn-lt"/>
              </a:rPr>
              <a:t>"Uzun açıklama yazma. "</a:t>
            </a:r>
            <a:endParaRPr lang="tr-TR"/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tr-TR" sz="1100">
                <a:solidFill>
                  <a:srgbClr val="A31515"/>
                </a:solidFill>
                <a:highlight>
                  <a:srgbClr val="FFFFFF"/>
                </a:highlight>
                <a:ea typeface="+mn-lt"/>
                <a:cs typeface="+mn-lt"/>
              </a:rPr>
              <a:t>"Yanıtlarında karmaşık matematik notasyonu kullanma. "</a:t>
            </a:r>
            <a:endParaRPr lang="tr-TR"/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tr-TR" sz="1100">
                <a:solidFill>
                  <a:srgbClr val="A31515"/>
                </a:solidFill>
                <a:highlight>
                  <a:srgbClr val="FFFFFF"/>
                </a:highlight>
                <a:ea typeface="+mn-lt"/>
                <a:cs typeface="+mn-lt"/>
              </a:rPr>
              <a:t>"En son satırda sadece şu formatı yaz: #### &lt;sayı&gt;\n\n"</a:t>
            </a:r>
            <a:endParaRPr lang="tr-TR"/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tr-TR" sz="11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f</a:t>
            </a:r>
            <a:r>
              <a:rPr lang="tr-TR" sz="1100">
                <a:solidFill>
                  <a:srgbClr val="A31515"/>
                </a:solidFill>
                <a:highlight>
                  <a:srgbClr val="FFFFFF"/>
                </a:highlight>
                <a:ea typeface="+mn-lt"/>
                <a:cs typeface="+mn-lt"/>
              </a:rPr>
              <a:t>"Soru: </a:t>
            </a:r>
            <a:r>
              <a:rPr lang="tr-TR" sz="1100">
                <a:highlight>
                  <a:srgbClr val="FFFFFF"/>
                </a:highlight>
                <a:ea typeface="+mn-lt"/>
                <a:cs typeface="+mn-lt"/>
              </a:rPr>
              <a:t>{soru}</a:t>
            </a:r>
            <a:r>
              <a:rPr lang="tr-TR" sz="1100">
                <a:solidFill>
                  <a:srgbClr val="A31515"/>
                </a:solidFill>
                <a:highlight>
                  <a:srgbClr val="FFFFFF"/>
                </a:highlight>
                <a:ea typeface="+mn-lt"/>
                <a:cs typeface="+mn-lt"/>
              </a:rPr>
              <a:t>"</a:t>
            </a:r>
            <a:endParaRPr lang="tr-TR"/>
          </a:p>
          <a:p>
            <a:pPr>
              <a:defRPr sz="1350">
                <a:solidFill>
                  <a:srgbClr val="5B6773"/>
                </a:solidFill>
              </a:defRPr>
            </a:pPr>
            <a:r>
              <a:rPr lang="tr-TR" sz="1100"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tr-TR"/>
          </a:p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A377DF3-CA55-44BA-9509-E01902C39A78}"/>
              </a:ext>
            </a:extLst>
          </p:cNvPr>
          <p:cNvSpPr>
            <a:spLocks noGrp="1"/>
          </p:cNvSpPr>
          <p:nvPr/>
        </p:nvSpPr>
        <p:spPr>
          <a:xfrm>
            <a:off x="6640773" y="3897573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18212B"/>
                </a:solidFill>
              </a:defRPr>
            </a:pPr>
            <a:r>
              <a:rPr sz="1650" b="1" dirty="0" err="1">
                <a:solidFill>
                  <a:srgbClr val="18212B"/>
                </a:solidFill>
              </a:rPr>
              <a:t>Çıktı</a:t>
            </a:r>
            <a:endParaRPr lang="tr-TR" sz="1650" b="1" dirty="0" err="1">
              <a:solidFill>
                <a:srgbClr val="18212B"/>
              </a:soli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1605F3F3-24C8-4D09-8ECF-3C5CCA895835}"/>
              </a:ext>
            </a:extLst>
          </p:cNvPr>
          <p:cNvSpPr>
            <a:spLocks noGrp="1"/>
          </p:cNvSpPr>
          <p:nvPr/>
        </p:nvSpPr>
        <p:spPr>
          <a:xfrm>
            <a:off x="6640773" y="4221423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Model cevabı + her token adımında top1–top2 farkı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923F9FAE-FB16-43BF-9D94-B74A7BA43F1E}"/>
              </a:ext>
            </a:extLst>
          </p:cNvPr>
          <p:cNvSpPr>
            <a:spLocks noGrp="1"/>
          </p:cNvSpPr>
          <p:nvPr/>
        </p:nvSpPr>
        <p:spPr>
          <a:xfrm>
            <a:off x="817179" y="4953657"/>
            <a:ext cx="3143250" cy="914400"/>
          </a:xfrm>
          <a:prstGeom prst="roundRect">
            <a:avLst>
              <a:gd name="adj" fmla="val 8333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1F25E0B3-CE10-40B5-A2D0-FA8D17C72426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Gold cevap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B3BBB8B-4EAD-4ED5-A4A3-DFB36F8C60DE}"/>
              </a:ext>
            </a:extLst>
          </p:cNvPr>
          <p:cNvSpPr>
            <a:spLocks noGrp="1"/>
          </p:cNvSpPr>
          <p:nvPr/>
        </p:nvSpPr>
        <p:spPr>
          <a:xfrm>
            <a:off x="1066800" y="5200650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125">
                <a:solidFill>
                  <a:srgbClr val="18212B"/>
                </a:solidFill>
              </a:defRPr>
            </a:pPr>
            <a:r>
              <a:rPr sz="1100" dirty="0">
                <a:solidFill>
                  <a:srgbClr val="18212B"/>
                </a:solidFill>
              </a:rPr>
              <a:t>Veri </a:t>
            </a:r>
            <a:r>
              <a:rPr lang="tr-TR" sz="1100" dirty="0" err="1">
                <a:solidFill>
                  <a:srgbClr val="18212B"/>
                </a:solidFill>
              </a:rPr>
              <a:t>kümesindeki</a:t>
            </a:r>
            <a:r>
              <a:rPr lang="tr-TR" sz="1100" dirty="0">
                <a:solidFill>
                  <a:srgbClr val="18212B"/>
                </a:solidFill>
              </a:rPr>
              <a:t> answer </a:t>
            </a:r>
            <a:r>
              <a:rPr sz="1100" dirty="0" err="1">
                <a:solidFill>
                  <a:srgbClr val="18212B"/>
                </a:solidFill>
              </a:rPr>
              <a:t>metninden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çıkarılan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gerçek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sayısal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sonuç</a:t>
            </a:r>
            <a:r>
              <a:rPr sz="1100" dirty="0">
                <a:solidFill>
                  <a:srgbClr val="18212B"/>
                </a:solidFill>
              </a:rPr>
              <a:t>.</a:t>
            </a:r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4BC79E78-B64C-41E2-8A13-92084B7A22F5}"/>
              </a:ext>
            </a:extLst>
          </p:cNvPr>
          <p:cNvSpPr>
            <a:spLocks noGrp="1"/>
          </p:cNvSpPr>
          <p:nvPr/>
        </p:nvSpPr>
        <p:spPr>
          <a:xfrm>
            <a:off x="4404492" y="4927381"/>
            <a:ext cx="3143250" cy="914400"/>
          </a:xfrm>
          <a:prstGeom prst="roundRect">
            <a:avLst>
              <a:gd name="adj" fmla="val 8333"/>
            </a:avLst>
          </a:prstGeom>
          <a:solidFill>
            <a:srgbClr val="F2E1D7"/>
          </a:solidFill>
          <a:ln w="9525">
            <a:solidFill>
              <a:srgbClr val="C86B38"/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3500C1A0-9B8E-4397-8C51-73E10B1C7796}"/>
              </a:ext>
            </a:extLst>
          </p:cNvPr>
          <p:cNvSpPr>
            <a:spLocks noGrp="1"/>
          </p:cNvSpPr>
          <p:nvPr/>
        </p:nvSpPr>
        <p:spPr>
          <a:xfrm>
            <a:off x="4743450" y="49149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C86B38"/>
                </a:solidFill>
              </a:defRPr>
            </a:pPr>
            <a:r>
              <a:rPr sz="1350" b="1">
                <a:solidFill>
                  <a:srgbClr val="C86B38"/>
                </a:solidFill>
              </a:rPr>
              <a:t>Pred cevap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3542961-ED87-4C8F-A479-A12FCB07172D}"/>
              </a:ext>
            </a:extLst>
          </p:cNvPr>
          <p:cNvSpPr>
            <a:spLocks noGrp="1"/>
          </p:cNvSpPr>
          <p:nvPr/>
        </p:nvSpPr>
        <p:spPr>
          <a:xfrm>
            <a:off x="4743450" y="5200650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8212B"/>
                </a:solidFill>
              </a:defRPr>
            </a:pPr>
            <a:r>
              <a:rPr sz="1125">
                <a:solidFill>
                  <a:srgbClr val="18212B"/>
                </a:solidFill>
              </a:rPr>
              <a:t>Modelin ürettiği metinden çıkarılan sayısal sonuç.</a:t>
            </a: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F9AD8A07-171A-4A5E-B850-B83DA410855B}"/>
              </a:ext>
            </a:extLst>
          </p:cNvPr>
          <p:cNvSpPr>
            <a:spLocks noGrp="1"/>
          </p:cNvSpPr>
          <p:nvPr/>
        </p:nvSpPr>
        <p:spPr>
          <a:xfrm>
            <a:off x="8280837" y="4927381"/>
            <a:ext cx="3143250" cy="914400"/>
          </a:xfrm>
          <a:prstGeom prst="roundRect">
            <a:avLst>
              <a:gd name="adj" fmla="val 8333"/>
            </a:avLst>
          </a:prstGeom>
          <a:solidFill>
            <a:srgbClr val="DDE8F4"/>
          </a:solidFill>
          <a:ln w="9525">
            <a:solidFill>
              <a:srgbClr val="245B8F"/>
            </a:solidFill>
            <a:prstDash val="solid"/>
          </a:ln>
        </p:spPr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0297C6EB-E327-4CDE-81C8-AC0BE0C747BF}"/>
              </a:ext>
            </a:extLst>
          </p:cNvPr>
          <p:cNvSpPr>
            <a:spLocks noGrp="1"/>
          </p:cNvSpPr>
          <p:nvPr/>
        </p:nvSpPr>
        <p:spPr>
          <a:xfrm>
            <a:off x="8430610" y="5014749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 b="1">
                <a:solidFill>
                  <a:srgbClr val="245B8F"/>
                </a:solidFill>
              </a:defRPr>
            </a:pPr>
            <a:r>
              <a:rPr sz="1350" b="1">
                <a:solidFill>
                  <a:srgbClr val="245B8F"/>
                </a:solidFill>
              </a:rPr>
              <a:t>Top1–Top2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F4719BE6-FBE9-4E91-9F19-76F20F8B12EF}"/>
              </a:ext>
            </a:extLst>
          </p:cNvPr>
          <p:cNvSpPr>
            <a:spLocks noGrp="1"/>
          </p:cNvSpPr>
          <p:nvPr/>
        </p:nvSpPr>
        <p:spPr>
          <a:xfrm>
            <a:off x="8430610" y="5226926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125">
                <a:solidFill>
                  <a:srgbClr val="18212B"/>
                </a:solidFill>
              </a:defRPr>
            </a:pPr>
            <a:r>
              <a:rPr sz="1100" dirty="0">
                <a:solidFill>
                  <a:srgbClr val="18212B"/>
                </a:solidFill>
              </a:rPr>
              <a:t>Model </a:t>
            </a:r>
            <a:r>
              <a:rPr sz="1100" dirty="0" err="1">
                <a:solidFill>
                  <a:srgbClr val="18212B"/>
                </a:solidFill>
              </a:rPr>
              <a:t>üretirken</a:t>
            </a:r>
            <a:r>
              <a:rPr sz="1100" dirty="0">
                <a:solidFill>
                  <a:srgbClr val="18212B"/>
                </a:solidFill>
              </a:rPr>
              <a:t> her token </a:t>
            </a:r>
            <a:r>
              <a:rPr sz="1100" dirty="0" err="1">
                <a:solidFill>
                  <a:srgbClr val="18212B"/>
                </a:solidFill>
              </a:rPr>
              <a:t>için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kaydedilen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iç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güven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sinyali</a:t>
            </a:r>
            <a:r>
              <a:rPr sz="1100" dirty="0">
                <a:solidFill>
                  <a:srgbClr val="18212B"/>
                </a:solidFill>
              </a:rPr>
              <a:t>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48FB0FB-3E75-40FC-A19A-A0DB3CEB49A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C44B27B2-115C-4F2C-92E4-900153C3412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927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1EC05AAD-7B54-4DF1-A57C-97D4218D5E8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 dirty="0" err="1">
                <a:solidFill>
                  <a:srgbClr val="18212B"/>
                </a:solidFill>
              </a:rPr>
              <a:t>Kullanılan</a:t>
            </a:r>
            <a:r>
              <a:rPr sz="2850" b="1" dirty="0">
                <a:solidFill>
                  <a:srgbClr val="18212B"/>
                </a:solidFill>
              </a:rPr>
              <a:t> Prompt </a:t>
            </a:r>
            <a:r>
              <a:rPr sz="2850" b="1" dirty="0" err="1">
                <a:solidFill>
                  <a:srgbClr val="18212B"/>
                </a:solidFill>
              </a:rPr>
              <a:t>ve</a:t>
            </a:r>
            <a:r>
              <a:rPr sz="2850" b="1" dirty="0">
                <a:solidFill>
                  <a:srgbClr val="18212B"/>
                </a:solidFill>
              </a:rPr>
              <a:t> </a:t>
            </a:r>
            <a:r>
              <a:rPr lang="tr-TR" sz="2850" b="1" dirty="0">
                <a:solidFill>
                  <a:srgbClr val="18212B"/>
                </a:solidFill>
              </a:rPr>
              <a:t>Parametreler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656EF8C-AA85-4A20-9B27-E743F519DFA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6280393E-6AEB-42D3-B3C3-598BBDB92A32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057900" cy="3390900"/>
          </a:xfrm>
          <a:prstGeom prst="roundRect">
            <a:avLst>
              <a:gd name="adj" fmla="val 2247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8F9C7BC-3924-4FA9-8822-086E436950DD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5429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>
                <a:solidFill>
                  <a:srgbClr val="E8EEF2"/>
                </a:solidFill>
              </a:defRPr>
            </a:pPr>
            <a:r>
              <a:rPr sz="1500" dirty="0">
                <a:solidFill>
                  <a:srgbClr val="E8EEF2"/>
                </a:solidFill>
              </a:rPr>
              <a:t>def </a:t>
            </a:r>
            <a:r>
              <a:rPr sz="1500" dirty="0" err="1">
                <a:solidFill>
                  <a:srgbClr val="E8EEF2"/>
                </a:solidFill>
              </a:rPr>
              <a:t>prompt_hazirla</a:t>
            </a:r>
            <a:r>
              <a:rPr sz="1500" dirty="0">
                <a:solidFill>
                  <a:srgbClr val="E8EEF2"/>
                </a:solidFill>
              </a:rPr>
              <a:t>(</a:t>
            </a:r>
            <a:r>
              <a:rPr sz="1500" dirty="0" err="1">
                <a:solidFill>
                  <a:srgbClr val="E8EEF2"/>
                </a:solidFill>
              </a:rPr>
              <a:t>soru</a:t>
            </a:r>
            <a:r>
              <a:rPr sz="1500" dirty="0">
                <a:solidFill>
                  <a:srgbClr val="E8EEF2"/>
                </a:solidFill>
              </a:rPr>
              <a:t>):</a:t>
            </a:r>
          </a:p>
          <a:p>
            <a:pPr>
              <a:defRPr sz="1500">
                <a:solidFill>
                  <a:srgbClr val="E8EEF2"/>
                </a:solidFill>
              </a:defRPr>
            </a:pPr>
            <a:r>
              <a:rPr sz="1500">
                <a:solidFill>
                  <a:srgbClr val="E8EEF2"/>
                </a:solidFill>
              </a:rPr>
              <a:t>    return (</a:t>
            </a:r>
          </a:p>
          <a:p>
            <a:pPr>
              <a:defRPr sz="1500">
                <a:solidFill>
                  <a:srgbClr val="E8EEF2"/>
                </a:solidFill>
              </a:defRPr>
            </a:pPr>
            <a:r>
              <a:rPr sz="1500" dirty="0">
                <a:solidFill>
                  <a:srgbClr val="E8EEF2"/>
                </a:solidFill>
              </a:rPr>
              <a:t>        "</a:t>
            </a:r>
            <a:r>
              <a:rPr sz="1500" dirty="0" err="1">
                <a:solidFill>
                  <a:srgbClr val="E8EEF2"/>
                </a:solidFill>
              </a:rPr>
              <a:t>Sadece</a:t>
            </a:r>
            <a:r>
              <a:rPr sz="1500" dirty="0">
                <a:solidFill>
                  <a:srgbClr val="E8EEF2"/>
                </a:solidFill>
              </a:rPr>
              <a:t> </a:t>
            </a:r>
            <a:r>
              <a:rPr sz="1500" dirty="0" err="1">
                <a:solidFill>
                  <a:srgbClr val="E8EEF2"/>
                </a:solidFill>
              </a:rPr>
              <a:t>kısa</a:t>
            </a:r>
            <a:r>
              <a:rPr sz="1500" dirty="0">
                <a:solidFill>
                  <a:srgbClr val="E8EEF2"/>
                </a:solidFill>
              </a:rPr>
              <a:t> </a:t>
            </a:r>
            <a:r>
              <a:rPr sz="1500" dirty="0" err="1">
                <a:solidFill>
                  <a:srgbClr val="E8EEF2"/>
                </a:solidFill>
              </a:rPr>
              <a:t>cevap</a:t>
            </a:r>
            <a:r>
              <a:rPr sz="1500" dirty="0">
                <a:solidFill>
                  <a:srgbClr val="E8EEF2"/>
                </a:solidFill>
              </a:rPr>
              <a:t> ver. "</a:t>
            </a:r>
          </a:p>
          <a:p>
            <a:pPr>
              <a:defRPr sz="1500">
                <a:solidFill>
                  <a:srgbClr val="E8EEF2"/>
                </a:solidFill>
              </a:defRPr>
            </a:pPr>
            <a:r>
              <a:rPr sz="1500" dirty="0">
                <a:solidFill>
                  <a:srgbClr val="E8EEF2"/>
                </a:solidFill>
              </a:rPr>
              <a:t>        "</a:t>
            </a:r>
            <a:r>
              <a:rPr sz="1500" dirty="0" err="1">
                <a:solidFill>
                  <a:srgbClr val="E8EEF2"/>
                </a:solidFill>
              </a:rPr>
              <a:t>Adım</a:t>
            </a:r>
            <a:r>
              <a:rPr sz="1500" dirty="0">
                <a:solidFill>
                  <a:srgbClr val="E8EEF2"/>
                </a:solidFill>
              </a:rPr>
              <a:t> </a:t>
            </a:r>
            <a:r>
              <a:rPr sz="1500" dirty="0" err="1">
                <a:solidFill>
                  <a:srgbClr val="E8EEF2"/>
                </a:solidFill>
              </a:rPr>
              <a:t>adım</a:t>
            </a:r>
            <a:r>
              <a:rPr sz="1500" dirty="0">
                <a:solidFill>
                  <a:srgbClr val="E8EEF2"/>
                </a:solidFill>
              </a:rPr>
              <a:t> </a:t>
            </a:r>
            <a:r>
              <a:rPr sz="1500" dirty="0" err="1">
                <a:solidFill>
                  <a:srgbClr val="E8EEF2"/>
                </a:solidFill>
              </a:rPr>
              <a:t>uzun</a:t>
            </a:r>
            <a:r>
              <a:rPr sz="1500" dirty="0">
                <a:solidFill>
                  <a:srgbClr val="E8EEF2"/>
                </a:solidFill>
              </a:rPr>
              <a:t> </a:t>
            </a:r>
            <a:r>
              <a:rPr sz="1500" dirty="0" err="1">
                <a:solidFill>
                  <a:srgbClr val="E8EEF2"/>
                </a:solidFill>
              </a:rPr>
              <a:t>çözüm</a:t>
            </a:r>
            <a:r>
              <a:rPr sz="1500" dirty="0">
                <a:solidFill>
                  <a:srgbClr val="E8EEF2"/>
                </a:solidFill>
              </a:rPr>
              <a:t> </a:t>
            </a:r>
            <a:r>
              <a:rPr sz="1500" dirty="0" err="1">
                <a:solidFill>
                  <a:srgbClr val="E8EEF2"/>
                </a:solidFill>
              </a:rPr>
              <a:t>yazma</a:t>
            </a:r>
            <a:r>
              <a:rPr sz="1500" dirty="0">
                <a:solidFill>
                  <a:srgbClr val="E8EEF2"/>
                </a:solidFill>
              </a:rPr>
              <a:t>. "</a:t>
            </a:r>
          </a:p>
          <a:p>
            <a:pPr>
              <a:defRPr sz="1500">
                <a:solidFill>
                  <a:srgbClr val="E8EEF2"/>
                </a:solidFill>
              </a:defRPr>
            </a:pPr>
            <a:r>
              <a:rPr sz="1500" dirty="0">
                <a:solidFill>
                  <a:srgbClr val="E8EEF2"/>
                </a:solidFill>
              </a:rPr>
              <a:t>        "Son </a:t>
            </a:r>
            <a:r>
              <a:rPr sz="1500" dirty="0" err="1">
                <a:solidFill>
                  <a:srgbClr val="E8EEF2"/>
                </a:solidFill>
              </a:rPr>
              <a:t>satır</a:t>
            </a:r>
            <a:r>
              <a:rPr sz="1500" dirty="0">
                <a:solidFill>
                  <a:srgbClr val="E8EEF2"/>
                </a:solidFill>
              </a:rPr>
              <a:t>: #### &lt;</a:t>
            </a:r>
            <a:r>
              <a:rPr sz="1500" dirty="0" err="1">
                <a:solidFill>
                  <a:srgbClr val="E8EEF2"/>
                </a:solidFill>
              </a:rPr>
              <a:t>sayı</a:t>
            </a:r>
            <a:r>
              <a:rPr sz="1500" dirty="0">
                <a:solidFill>
                  <a:srgbClr val="E8EEF2"/>
                </a:solidFill>
              </a:rPr>
              <a:t>&gt;\n\n"</a:t>
            </a:r>
          </a:p>
          <a:p>
            <a:pPr>
              <a:defRPr sz="1500">
                <a:solidFill>
                  <a:srgbClr val="E8EEF2"/>
                </a:solidFill>
              </a:defRPr>
            </a:pPr>
            <a:r>
              <a:rPr sz="1500" dirty="0">
                <a:solidFill>
                  <a:srgbClr val="E8EEF2"/>
                </a:solidFill>
              </a:rPr>
              <a:t>        </a:t>
            </a:r>
            <a:r>
              <a:rPr sz="1500" dirty="0" err="1">
                <a:solidFill>
                  <a:srgbClr val="E8EEF2"/>
                </a:solidFill>
              </a:rPr>
              <a:t>f"Soru</a:t>
            </a:r>
            <a:r>
              <a:rPr sz="1500" dirty="0">
                <a:solidFill>
                  <a:srgbClr val="E8EEF2"/>
                </a:solidFill>
              </a:rPr>
              <a:t>: {</a:t>
            </a:r>
            <a:r>
              <a:rPr sz="1500" dirty="0" err="1">
                <a:solidFill>
                  <a:srgbClr val="E8EEF2"/>
                </a:solidFill>
              </a:rPr>
              <a:t>soru</a:t>
            </a:r>
            <a:r>
              <a:rPr sz="1500" dirty="0">
                <a:solidFill>
                  <a:srgbClr val="E8EEF2"/>
                </a:solidFill>
              </a:rPr>
              <a:t>}"</a:t>
            </a:r>
          </a:p>
          <a:p>
            <a:pPr>
              <a:defRPr sz="1500">
                <a:solidFill>
                  <a:srgbClr val="E8EEF2"/>
                </a:solidFill>
              </a:defRPr>
            </a:pPr>
            <a:r>
              <a:rPr sz="1500">
                <a:solidFill>
                  <a:srgbClr val="E8EEF2"/>
                </a:solidFill>
              </a:rPr>
              <a:t>    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39599AC-3B02-409E-8F77-FC56A8A7BBF2}"/>
              </a:ext>
            </a:extLst>
          </p:cNvPr>
          <p:cNvSpPr>
            <a:spLocks noGrp="1"/>
          </p:cNvSpPr>
          <p:nvPr/>
        </p:nvSpPr>
        <p:spPr>
          <a:xfrm>
            <a:off x="971550" y="4438650"/>
            <a:ext cx="542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BFD0DA"/>
                </a:solidFill>
              </a:defRPr>
            </a:pPr>
            <a:r>
              <a:rPr sz="1200">
                <a:solidFill>
                  <a:srgbClr val="BFD0DA"/>
                </a:solidFill>
              </a:rPr>
              <a:t>Neden? gsm8k_tr cevaplarında #### yok; model cevabını sayısal olarak karşılaştırabilmek için final satır formatı istendi.</a:t>
            </a:r>
          </a:p>
        </p:txBody>
      </p:sp>
      <p:graphicFrame>
        <p:nvGraphicFramePr>
          <p:cNvPr id="19" name="Tablo 18"/>
          <p:cNvGraphicFramePr/>
          <p:nvPr/>
        </p:nvGraphicFramePr>
        <p:xfrm>
          <a:off x="7258050" y="1847850"/>
          <a:ext cx="3714750" cy="2566854"/>
        </p:xfrm>
        <a:graphic>
          <a:graphicData uri="http://schemas.openxmlformats.org/drawingml/2006/table">
            <a:tbl>
              <a:tblPr firstRow="1" bandRow="1"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Parametre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Değer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max_new_tokens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top_p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top_k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do_sample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yaklaşım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chat template + LogitsProcessor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BDFB3E83-693F-4D41-B94B-C2565235EBAA}"/>
              </a:ext>
            </a:extLst>
          </p:cNvPr>
          <p:cNvSpPr>
            <a:spLocks noGrp="1"/>
          </p:cNvSpPr>
          <p:nvPr/>
        </p:nvSpPr>
        <p:spPr>
          <a:xfrm>
            <a:off x="7258050" y="468630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B84733C4-A1C4-4ECD-9C06-707DD5D2F691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1">
                <a:solidFill>
                  <a:srgbClr val="2E7D5B"/>
                </a:solidFill>
              </a:defRPr>
            </a:pPr>
            <a:endParaRPr lang="tr-TR" sz="1500" b="1" dirty="0">
              <a:solidFill>
                <a:srgbClr val="2E7D5B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6F5F223-0CB2-450B-A101-CC3B8ADA38CA}"/>
              </a:ext>
            </a:extLst>
          </p:cNvPr>
          <p:cNvSpPr>
            <a:spLocks noGrp="1"/>
          </p:cNvSpPr>
          <p:nvPr/>
        </p:nvSpPr>
        <p:spPr>
          <a:xfrm>
            <a:off x="7524750" y="4963520"/>
            <a:ext cx="3086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125">
                <a:solidFill>
                  <a:srgbClr val="18212B"/>
                </a:solidFill>
              </a:defRPr>
            </a:pPr>
            <a:r>
              <a:rPr sz="1100" dirty="0">
                <a:solidFill>
                  <a:srgbClr val="18212B"/>
                </a:solidFill>
              </a:rPr>
              <a:t>Cosmos-T1 </a:t>
            </a:r>
            <a:r>
              <a:rPr sz="1100" dirty="0" err="1">
                <a:solidFill>
                  <a:srgbClr val="18212B"/>
                </a:solidFill>
              </a:rPr>
              <a:t>sayfasındaki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öneriye</a:t>
            </a:r>
            <a:r>
              <a:rPr sz="1100" dirty="0">
                <a:solidFill>
                  <a:srgbClr val="18212B"/>
                </a:solidFill>
              </a:rPr>
              <a:t> </a:t>
            </a:r>
            <a:r>
              <a:rPr sz="1100" dirty="0" err="1">
                <a:solidFill>
                  <a:srgbClr val="18212B"/>
                </a:solidFill>
              </a:rPr>
              <a:t>göre</a:t>
            </a:r>
            <a:r>
              <a:rPr sz="1100" dirty="0">
                <a:solidFill>
                  <a:srgbClr val="18212B"/>
                </a:solidFill>
              </a:rPr>
              <a:t> greedy decoding </a:t>
            </a:r>
            <a:r>
              <a:rPr sz="1100" dirty="0" err="1">
                <a:solidFill>
                  <a:srgbClr val="18212B"/>
                </a:solidFill>
              </a:rPr>
              <a:t>yerine</a:t>
            </a:r>
            <a:r>
              <a:rPr sz="1100" dirty="0">
                <a:solidFill>
                  <a:srgbClr val="18212B"/>
                </a:solidFill>
              </a:rPr>
              <a:t> sampling </a:t>
            </a:r>
            <a:r>
              <a:rPr sz="1100" dirty="0" err="1">
                <a:solidFill>
                  <a:srgbClr val="18212B"/>
                </a:solidFill>
              </a:rPr>
              <a:t>kullanıldı</a:t>
            </a:r>
            <a:r>
              <a:rPr sz="1100" dirty="0">
                <a:solidFill>
                  <a:srgbClr val="18212B"/>
                </a:solidFill>
              </a:rPr>
              <a:t>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6A5DE48-AA73-4877-AF01-316458FF775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146C7CCE-C68B-4E7B-8F33-A5F75D80692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2664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>
            <a:extLst>
              <a:ext uri="{FF2B5EF4-FFF2-40B4-BE49-F238E27FC236}">
                <a16:creationId xmlns:a16="http://schemas.microsoft.com/office/drawing/2014/main" id="{E8832C92-0950-4D4C-B781-015E16FDB0E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 dirty="0">
                <a:solidFill>
                  <a:srgbClr val="18212B"/>
                </a:solidFill>
              </a:rPr>
              <a:t>Top1–Top2 </a:t>
            </a:r>
            <a:r>
              <a:rPr sz="2850" b="1" dirty="0" err="1">
                <a:solidFill>
                  <a:srgbClr val="18212B"/>
                </a:solidFill>
              </a:rPr>
              <a:t>Farkı</a:t>
            </a:r>
            <a:r>
              <a:rPr sz="2850" b="1" dirty="0">
                <a:solidFill>
                  <a:srgbClr val="18212B"/>
                </a:solidFill>
              </a:rPr>
              <a:t> 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4E8DB7C-0DBF-4147-99A9-6E5B8029372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F7A2B88-86D2-4D37-84FE-4531B61C108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5DD9AD4B-6135-4FC4-A5CF-9CA2DCE32386}"/>
              </a:ext>
            </a:extLst>
          </p:cNvPr>
          <p:cNvSpPr>
            <a:spLocks noGrp="1"/>
          </p:cNvSpPr>
          <p:nvPr/>
        </p:nvSpPr>
        <p:spPr>
          <a:xfrm>
            <a:off x="762000" y="1885950"/>
            <a:ext cx="4762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CFEFE56-9A7B-4959-A383-A38B740300B4}"/>
              </a:ext>
            </a:extLst>
          </p:cNvPr>
          <p:cNvSpPr>
            <a:spLocks noGrp="1"/>
          </p:cNvSpPr>
          <p:nvPr/>
        </p:nvSpPr>
        <p:spPr>
          <a:xfrm>
            <a:off x="1104900" y="2362200"/>
            <a:ext cx="4076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8212B"/>
                </a:solidFill>
              </a:defRPr>
            </a:pPr>
            <a:r>
              <a:rPr sz="2100" b="1">
                <a:solidFill>
                  <a:srgbClr val="18212B"/>
                </a:solidFill>
              </a:rPr>
              <a:t>δ_t = P(top1_t) − P(top2_t)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0B6624-7215-4819-AF42-3833A0D0E090}"/>
              </a:ext>
            </a:extLst>
          </p:cNvPr>
          <p:cNvSpPr>
            <a:spLocks noGrp="1"/>
          </p:cNvSpPr>
          <p:nvPr/>
        </p:nvSpPr>
        <p:spPr>
          <a:xfrm>
            <a:off x="1104900" y="3067050"/>
            <a:ext cx="4076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E7D5B"/>
                </a:solidFill>
              </a:defRPr>
            </a:pPr>
            <a:r>
              <a:rPr sz="1950" b="1">
                <a:solidFill>
                  <a:srgbClr val="2E7D5B"/>
                </a:solidFill>
              </a:rPr>
              <a:t>δₜ ∈ [0, 1]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9180D1B-F50C-4A51-959F-3679719B9F4B}"/>
              </a:ext>
            </a:extLst>
          </p:cNvPr>
          <p:cNvSpPr>
            <a:spLocks noGrp="1"/>
          </p:cNvSpPr>
          <p:nvPr/>
        </p:nvSpPr>
        <p:spPr>
          <a:xfrm>
            <a:off x="1104900" y="3676650"/>
            <a:ext cx="4076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Yüksek değer: model ilk tokeni ikinci seçeneğe göre daha açık biçimde tercih ediyor.</a:t>
            </a:r>
          </a:p>
          <a:p>
            <a:pPr algn="ctr"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Düşük değer: iki token arasında kararsızlık daha fazla.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97E99190-EA3E-4FE1-AE9F-05DDD2908B27}"/>
              </a:ext>
            </a:extLst>
          </p:cNvPr>
          <p:cNvSpPr>
            <a:spLocks noGrp="1"/>
          </p:cNvSpPr>
          <p:nvPr/>
        </p:nvSpPr>
        <p:spPr>
          <a:xfrm>
            <a:off x="6305550" y="1885950"/>
            <a:ext cx="4762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31634D4-018B-496F-8DD7-DE06D7975E58}"/>
              </a:ext>
            </a:extLst>
          </p:cNvPr>
          <p:cNvSpPr>
            <a:spLocks noGrp="1"/>
          </p:cNvSpPr>
          <p:nvPr/>
        </p:nvSpPr>
        <p:spPr>
          <a:xfrm>
            <a:off x="6686550" y="21907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8212B"/>
                </a:solidFill>
              </a:defRPr>
            </a:pPr>
            <a:r>
              <a:rPr sz="1800" b="1">
                <a:solidFill>
                  <a:srgbClr val="18212B"/>
                </a:solidFill>
              </a:rPr>
              <a:t>Örnek üretim adımı</a:t>
            </a:r>
          </a:p>
        </p:txBody>
      </p:sp>
      <p:graphicFrame>
        <p:nvGraphicFramePr>
          <p:cNvPr id="23" name="Tablo 22"/>
          <p:cNvGraphicFramePr/>
          <p:nvPr>
            <p:extLst>
              <p:ext uri="{D42A27DB-BD31-4B8C-83A1-F6EECF244321}">
                <p14:modId xmlns:p14="http://schemas.microsoft.com/office/powerpoint/2010/main" val="3102050594"/>
              </p:ext>
            </p:extLst>
          </p:nvPr>
        </p:nvGraphicFramePr>
        <p:xfrm>
          <a:off x="6762750" y="2724150"/>
          <a:ext cx="3429000" cy="1466852"/>
        </p:xfrm>
        <a:graphic>
          <a:graphicData uri="http://schemas.openxmlformats.org/drawingml/2006/table">
            <a:tbl>
              <a:tblPr firstRow="1" band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Token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adayı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Olasılık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18212B"/>
                          </a:solidFill>
                        </a:rPr>
                        <a:t>diğerleri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Dikdörtgen 10">
            <a:extLst>
              <a:ext uri="{FF2B5EF4-FFF2-40B4-BE49-F238E27FC236}">
                <a16:creationId xmlns:a16="http://schemas.microsoft.com/office/drawing/2014/main" id="{2B1266BA-19E3-4731-9992-30BFCB52B0B2}"/>
              </a:ext>
            </a:extLst>
          </p:cNvPr>
          <p:cNvSpPr>
            <a:spLocks noGrp="1"/>
          </p:cNvSpPr>
          <p:nvPr/>
        </p:nvSpPr>
        <p:spPr>
          <a:xfrm>
            <a:off x="6686550" y="44196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C86B38"/>
                </a:solidFill>
              </a:defRPr>
            </a:pPr>
            <a:r>
              <a:rPr sz="1500" b="1">
                <a:solidFill>
                  <a:srgbClr val="C86B38"/>
                </a:solidFill>
              </a:rPr>
              <a:t>top1–top2 = 0.62 − 0.28 = 0.34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75F2F8A-678F-49A1-9D42-F4B9C6E964A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BCB7A41A-4239-4A2C-AD68-26081B66E48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1507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kdörtgen 36">
            <a:extLst>
              <a:ext uri="{FF2B5EF4-FFF2-40B4-BE49-F238E27FC236}">
                <a16:creationId xmlns:a16="http://schemas.microsoft.com/office/drawing/2014/main" id="{1C0D590E-B6AC-4AD9-9144-A531E383844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Uygulama Akışı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76554FE-C967-4851-B55A-8A4A7B6C25F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2CE4172-98B2-4A83-B31B-5D208793785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5A25073A-28E8-41C2-947E-D077FB144B94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8A7B227B-331E-44C5-8E75-F67A77345A4B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175C874-C8DE-4AA8-9545-482440A491E8}"/>
              </a:ext>
            </a:extLst>
          </p:cNvPr>
          <p:cNvSpPr>
            <a:spLocks noGrp="1"/>
          </p:cNvSpPr>
          <p:nvPr/>
        </p:nvSpPr>
        <p:spPr>
          <a:xfrm>
            <a:off x="838200" y="20288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CFF3E18-F318-47B1-A449-25EAD9473C06}"/>
              </a:ext>
            </a:extLst>
          </p:cNvPr>
          <p:cNvSpPr>
            <a:spLocks noGrp="1"/>
          </p:cNvSpPr>
          <p:nvPr/>
        </p:nvSpPr>
        <p:spPr>
          <a:xfrm>
            <a:off x="1390650" y="19621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Soru seçimi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DD61573-A4C0-4DDA-8C42-BDE26D63361D}"/>
              </a:ext>
            </a:extLst>
          </p:cNvPr>
          <p:cNvSpPr>
            <a:spLocks noGrp="1"/>
          </p:cNvSpPr>
          <p:nvPr/>
        </p:nvSpPr>
        <p:spPr>
          <a:xfrm>
            <a:off x="1390650" y="2286000"/>
            <a:ext cx="2457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gsm8k_tr içinden temiz sayısal altın cevabı olan sorular alınır.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4EB31C7D-92CB-4B54-9165-D1201B44EBC7}"/>
              </a:ext>
            </a:extLst>
          </p:cNvPr>
          <p:cNvSpPr>
            <a:spLocks noGrp="1"/>
          </p:cNvSpPr>
          <p:nvPr/>
        </p:nvSpPr>
        <p:spPr>
          <a:xfrm>
            <a:off x="4410075" y="179070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39B39EEF-DFFA-4F42-B2C9-9210ADC4773E}"/>
              </a:ext>
            </a:extLst>
          </p:cNvPr>
          <p:cNvSpPr>
            <a:spLocks noGrp="1"/>
          </p:cNvSpPr>
          <p:nvPr/>
        </p:nvSpPr>
        <p:spPr>
          <a:xfrm>
            <a:off x="4581525" y="1981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E5B53B0-964E-429A-A9D4-8BAEEBCF29BE}"/>
              </a:ext>
            </a:extLst>
          </p:cNvPr>
          <p:cNvSpPr>
            <a:spLocks noGrp="1"/>
          </p:cNvSpPr>
          <p:nvPr/>
        </p:nvSpPr>
        <p:spPr>
          <a:xfrm>
            <a:off x="4581525" y="20288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2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71AAFE7A-B843-473B-8000-E617CB950E29}"/>
              </a:ext>
            </a:extLst>
          </p:cNvPr>
          <p:cNvSpPr>
            <a:spLocks noGrp="1"/>
          </p:cNvSpPr>
          <p:nvPr/>
        </p:nvSpPr>
        <p:spPr>
          <a:xfrm>
            <a:off x="5133975" y="19621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Model üretimi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AD511E0-53F1-430D-B07F-296A7924BA45}"/>
              </a:ext>
            </a:extLst>
          </p:cNvPr>
          <p:cNvSpPr>
            <a:spLocks noGrp="1"/>
          </p:cNvSpPr>
          <p:nvPr/>
        </p:nvSpPr>
        <p:spPr>
          <a:xfrm>
            <a:off x="5133975" y="2286000"/>
            <a:ext cx="2457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Cosmos-T1 chat formatında cevap üretir; önerilen sampling ayarları kullanılır.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82F4C922-B8CF-421E-A898-05A3BC11F01A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6125A8DB-BBA5-4FD9-8022-F6D13B420B1B}"/>
              </a:ext>
            </a:extLst>
          </p:cNvPr>
          <p:cNvSpPr>
            <a:spLocks noGrp="1"/>
          </p:cNvSpPr>
          <p:nvPr/>
        </p:nvSpPr>
        <p:spPr>
          <a:xfrm>
            <a:off x="8324850" y="1981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8F5C337E-0CB3-499C-8395-6736589C8C9F}"/>
              </a:ext>
            </a:extLst>
          </p:cNvPr>
          <p:cNvSpPr>
            <a:spLocks noGrp="1"/>
          </p:cNvSpPr>
          <p:nvPr/>
        </p:nvSpPr>
        <p:spPr>
          <a:xfrm>
            <a:off x="8324850" y="20288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3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043B081-3CFF-4A45-B832-037B44648D8C}"/>
              </a:ext>
            </a:extLst>
          </p:cNvPr>
          <p:cNvSpPr>
            <a:spLocks noGrp="1"/>
          </p:cNvSpPr>
          <p:nvPr/>
        </p:nvSpPr>
        <p:spPr>
          <a:xfrm>
            <a:off x="8877300" y="19621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Fark kaydı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0C4FC4C-D3EE-4A9D-B89E-C8E5A7235589}"/>
              </a:ext>
            </a:extLst>
          </p:cNvPr>
          <p:cNvSpPr>
            <a:spLocks noGrp="1"/>
          </p:cNvSpPr>
          <p:nvPr/>
        </p:nvSpPr>
        <p:spPr>
          <a:xfrm>
            <a:off x="8877300" y="2286000"/>
            <a:ext cx="2457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LogitsProcessor her üretim adımında yalnızca top1–top2 farkını saklar.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7A100175-A999-4638-8641-7F89CC4C00EC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EDDAF4C6-3FC8-4501-8A1B-87F6D7BA1949}"/>
              </a:ext>
            </a:extLst>
          </p:cNvPr>
          <p:cNvSpPr>
            <a:spLocks noGrp="1"/>
          </p:cNvSpPr>
          <p:nvPr/>
        </p:nvSpPr>
        <p:spPr>
          <a:xfrm>
            <a:off x="838200" y="36576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9EAE21D7-8AE5-4584-9830-36D06AC54C00}"/>
              </a:ext>
            </a:extLst>
          </p:cNvPr>
          <p:cNvSpPr>
            <a:spLocks noGrp="1"/>
          </p:cNvSpPr>
          <p:nvPr/>
        </p:nvSpPr>
        <p:spPr>
          <a:xfrm>
            <a:off x="838200" y="37052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4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C8FBF87E-4F63-42B1-AD21-7F043A30438C}"/>
              </a:ext>
            </a:extLst>
          </p:cNvPr>
          <p:cNvSpPr>
            <a:spLocks noGrp="1"/>
          </p:cNvSpPr>
          <p:nvPr/>
        </p:nvSpPr>
        <p:spPr>
          <a:xfrm>
            <a:off x="1390650" y="36385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Etiketleme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2FE6933D-2BA4-44BA-BA2E-7A56FC5135AC}"/>
              </a:ext>
            </a:extLst>
          </p:cNvPr>
          <p:cNvSpPr>
            <a:spLocks noGrp="1"/>
          </p:cNvSpPr>
          <p:nvPr/>
        </p:nvSpPr>
        <p:spPr>
          <a:xfrm>
            <a:off x="1390650" y="3962400"/>
            <a:ext cx="2457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Üretilen sayı gold cevapla karşılaştırılır: doğru veya yanlış.</a:t>
            </a:r>
          </a:p>
        </p:txBody>
      </p:sp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9C600A91-C6F4-4F4E-8ACD-50CFD95D6D42}"/>
              </a:ext>
            </a:extLst>
          </p:cNvPr>
          <p:cNvSpPr>
            <a:spLocks noGrp="1"/>
          </p:cNvSpPr>
          <p:nvPr/>
        </p:nvSpPr>
        <p:spPr>
          <a:xfrm>
            <a:off x="4410075" y="346710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48847ED9-D454-4D3E-B571-13B7F162A6CC}"/>
              </a:ext>
            </a:extLst>
          </p:cNvPr>
          <p:cNvSpPr>
            <a:spLocks noGrp="1"/>
          </p:cNvSpPr>
          <p:nvPr/>
        </p:nvSpPr>
        <p:spPr>
          <a:xfrm>
            <a:off x="4581525" y="36576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74D53D87-4D82-4B80-97B6-A7D8D93FBCE6}"/>
              </a:ext>
            </a:extLst>
          </p:cNvPr>
          <p:cNvSpPr>
            <a:spLocks noGrp="1"/>
          </p:cNvSpPr>
          <p:nvPr/>
        </p:nvSpPr>
        <p:spPr>
          <a:xfrm>
            <a:off x="4581525" y="37052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5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021759F5-78B1-47D3-8C16-10A4D2B3EF20}"/>
              </a:ext>
            </a:extLst>
          </p:cNvPr>
          <p:cNvSpPr>
            <a:spLocks noGrp="1"/>
          </p:cNvSpPr>
          <p:nvPr/>
        </p:nvSpPr>
        <p:spPr>
          <a:xfrm>
            <a:off x="5133975" y="36385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Özellik çıkarımı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7B6028BC-3FA0-464A-851C-D9B27352FECA}"/>
              </a:ext>
            </a:extLst>
          </p:cNvPr>
          <p:cNvSpPr>
            <a:spLocks noGrp="1"/>
          </p:cNvSpPr>
          <p:nvPr/>
        </p:nvSpPr>
        <p:spPr>
          <a:xfrm>
            <a:off x="5133975" y="3962400"/>
            <a:ext cx="2457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Değişken uzunluklu fark dizisi 14 sabit özelliğe dönüştürülür.</a:t>
            </a:r>
          </a:p>
        </p:txBody>
      </p:sp>
      <p:sp>
        <p:nvSpPr>
          <p:cNvPr id="29" name="Dikdörtgen: Köşeleri Yuvarlatılmış 28">
            <a:extLst>
              <a:ext uri="{FF2B5EF4-FFF2-40B4-BE49-F238E27FC236}">
                <a16:creationId xmlns:a16="http://schemas.microsoft.com/office/drawing/2014/main" id="{1ADFEDF9-9344-4B34-BAD2-DE326B1CFC11}"/>
              </a:ext>
            </a:extLst>
          </p:cNvPr>
          <p:cNvSpPr>
            <a:spLocks noGrp="1"/>
          </p:cNvSpPr>
          <p:nvPr/>
        </p:nvSpPr>
        <p:spPr>
          <a:xfrm>
            <a:off x="8153400" y="346710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30" name="Dikdörtgen: Köşeleri Yuvarlatılmış 29">
            <a:extLst>
              <a:ext uri="{FF2B5EF4-FFF2-40B4-BE49-F238E27FC236}">
                <a16:creationId xmlns:a16="http://schemas.microsoft.com/office/drawing/2014/main" id="{A559F294-1C1E-479E-9AF0-77F9F361B297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98FB6518-1937-4CE4-A30C-6AD52F40F98D}"/>
              </a:ext>
            </a:extLst>
          </p:cNvPr>
          <p:cNvSpPr>
            <a:spLocks noGrp="1"/>
          </p:cNvSpPr>
          <p:nvPr/>
        </p:nvSpPr>
        <p:spPr>
          <a:xfrm>
            <a:off x="8324850" y="37052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6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EFCDE5B0-F0C1-4590-B69D-39159BB251C8}"/>
              </a:ext>
            </a:extLst>
          </p:cNvPr>
          <p:cNvSpPr>
            <a:spLocks noGrp="1"/>
          </p:cNvSpPr>
          <p:nvPr/>
        </p:nvSpPr>
        <p:spPr>
          <a:xfrm>
            <a:off x="8877300" y="36385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ML tahmini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B1137BDF-5F60-4965-BA68-66956B496F8A}"/>
              </a:ext>
            </a:extLst>
          </p:cNvPr>
          <p:cNvSpPr>
            <a:spLocks noGrp="1"/>
          </p:cNvSpPr>
          <p:nvPr/>
        </p:nvSpPr>
        <p:spPr>
          <a:xfrm>
            <a:off x="8877300" y="3962400"/>
            <a:ext cx="2457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Logistic Regression, Random Forest ve Gradient Boosting karşılaştırılır.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9EAE1A2B-0C65-4E54-AE45-2B203AC2F05F}"/>
              </a:ext>
            </a:extLst>
          </p:cNvPr>
          <p:cNvSpPr>
            <a:spLocks noGrp="1"/>
          </p:cNvSpPr>
          <p:nvPr/>
        </p:nvSpPr>
        <p:spPr>
          <a:xfrm>
            <a:off x="1162050" y="5429250"/>
            <a:ext cx="986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500" b="1">
                <a:solidFill>
                  <a:srgbClr val="18212B"/>
                </a:solidFill>
              </a:defRPr>
            </a:pPr>
            <a:endParaRPr lang="tr-TR" dirty="0"/>
          </a:p>
          <a:p>
            <a:pPr algn="ctr">
              <a:defRPr sz="1500" b="1">
                <a:solidFill>
                  <a:srgbClr val="18212B"/>
                </a:solidFill>
              </a:defRPr>
            </a:pPr>
            <a:r>
              <a:rPr sz="1500" b="1" dirty="0" err="1">
                <a:solidFill>
                  <a:srgbClr val="18212B"/>
                </a:solidFill>
              </a:rPr>
              <a:t>output_scores</a:t>
            </a:r>
            <a:r>
              <a:rPr sz="1500" b="1" dirty="0">
                <a:solidFill>
                  <a:srgbClr val="18212B"/>
                </a:solidFill>
              </a:rPr>
              <a:t>=True </a:t>
            </a:r>
            <a:r>
              <a:rPr sz="1500" b="1" dirty="0" err="1">
                <a:solidFill>
                  <a:srgbClr val="18212B"/>
                </a:solidFill>
              </a:rPr>
              <a:t>tüm</a:t>
            </a:r>
            <a:r>
              <a:rPr sz="1500" b="1" dirty="0">
                <a:solidFill>
                  <a:srgbClr val="18212B"/>
                </a:solidFill>
              </a:rPr>
              <a:t> vocabulary </a:t>
            </a:r>
            <a:r>
              <a:rPr sz="1500" b="1" dirty="0" err="1">
                <a:solidFill>
                  <a:srgbClr val="18212B"/>
                </a:solidFill>
              </a:rPr>
              <a:t>skorlarını</a:t>
            </a:r>
            <a:r>
              <a:rPr sz="1500" b="1" dirty="0">
                <a:solidFill>
                  <a:srgbClr val="18212B"/>
                </a:solidFill>
              </a:rPr>
              <a:t> </a:t>
            </a:r>
            <a:r>
              <a:rPr sz="1500" b="1" dirty="0" err="1">
                <a:solidFill>
                  <a:srgbClr val="18212B"/>
                </a:solidFill>
              </a:rPr>
              <a:t>bellekte</a:t>
            </a:r>
            <a:r>
              <a:rPr sz="1500" b="1" dirty="0">
                <a:solidFill>
                  <a:srgbClr val="18212B"/>
                </a:solidFill>
              </a:rPr>
              <a:t> </a:t>
            </a:r>
            <a:r>
              <a:rPr sz="1500" b="1" dirty="0" err="1">
                <a:solidFill>
                  <a:srgbClr val="18212B"/>
                </a:solidFill>
              </a:rPr>
              <a:t>tutar</a:t>
            </a:r>
            <a:r>
              <a:rPr sz="1500" b="1" dirty="0">
                <a:solidFill>
                  <a:srgbClr val="18212B"/>
                </a:solidFill>
              </a:rPr>
              <a:t>; </a:t>
            </a:r>
            <a:r>
              <a:rPr lang="tr-TR" sz="1500" b="1" dirty="0">
                <a:solidFill>
                  <a:srgbClr val="18212B"/>
                </a:solidFill>
              </a:rPr>
              <a:t>bu yüzden LogitsProcessor kullanıldı, bu</a:t>
            </a:r>
            <a:r>
              <a:rPr sz="1500" b="1" dirty="0">
                <a:solidFill>
                  <a:srgbClr val="18212B"/>
                </a:solidFill>
              </a:rPr>
              <a:t> </a:t>
            </a:r>
            <a:r>
              <a:rPr sz="1500" b="1" dirty="0" err="1">
                <a:solidFill>
                  <a:srgbClr val="18212B"/>
                </a:solidFill>
              </a:rPr>
              <a:t>projede</a:t>
            </a:r>
            <a:r>
              <a:rPr sz="1500" b="1" dirty="0">
                <a:solidFill>
                  <a:srgbClr val="18212B"/>
                </a:solidFill>
              </a:rPr>
              <a:t> </a:t>
            </a:r>
            <a:r>
              <a:rPr sz="1500" b="1" dirty="0" err="1">
                <a:solidFill>
                  <a:srgbClr val="18212B"/>
                </a:solidFill>
              </a:rPr>
              <a:t>sadece</a:t>
            </a:r>
            <a:r>
              <a:rPr sz="1500" b="1" dirty="0">
                <a:solidFill>
                  <a:srgbClr val="18212B"/>
                </a:solidFill>
              </a:rPr>
              <a:t> </a:t>
            </a:r>
            <a:r>
              <a:rPr sz="1500" b="1" dirty="0" err="1">
                <a:solidFill>
                  <a:srgbClr val="18212B"/>
                </a:solidFill>
              </a:rPr>
              <a:t>skalar</a:t>
            </a:r>
            <a:r>
              <a:rPr sz="1500" b="1" dirty="0">
                <a:solidFill>
                  <a:srgbClr val="18212B"/>
                </a:solidFill>
              </a:rPr>
              <a:t> fark </a:t>
            </a:r>
            <a:r>
              <a:rPr sz="1500" b="1" dirty="0" err="1">
                <a:solidFill>
                  <a:srgbClr val="18212B"/>
                </a:solidFill>
              </a:rPr>
              <a:t>gerektiği</a:t>
            </a:r>
            <a:r>
              <a:rPr sz="1500" b="1" dirty="0">
                <a:solidFill>
                  <a:srgbClr val="18212B"/>
                </a:solidFill>
              </a:rPr>
              <a:t> </a:t>
            </a:r>
            <a:r>
              <a:rPr sz="1500" b="1" dirty="0" err="1">
                <a:solidFill>
                  <a:srgbClr val="18212B"/>
                </a:solidFill>
              </a:rPr>
              <a:t>için</a:t>
            </a:r>
            <a:r>
              <a:rPr sz="1500" b="1" dirty="0">
                <a:solidFill>
                  <a:srgbClr val="18212B"/>
                </a:solidFill>
              </a:rPr>
              <a:t>.</a:t>
            </a:r>
            <a:endParaRPr dirty="0"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6247843-2EF9-433C-ADBA-9E0F6B2C67E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C16E89A2-C33A-4AD1-AD08-06D3C889805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344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DF1CD8E1-630A-4C6E-9398-8F62A10287A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Özellik Mühendisliği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14C10F3-50F7-4937-848B-C652B67F876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Değişken uzunluklu δ dizisi, klasik ML algoritmaları için 14 sabit özelliğe çevrildi.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E413325-7C85-4959-992E-0C2958225B2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graphicFrame>
        <p:nvGraphicFramePr>
          <p:cNvPr id="14" name="Tablo 13"/>
          <p:cNvGraphicFramePr/>
          <p:nvPr/>
        </p:nvGraphicFramePr>
        <p:xfrm>
          <a:off x="704850" y="1809750"/>
          <a:ext cx="10782300" cy="2781300"/>
        </p:xfrm>
        <a:graphic>
          <a:graphicData uri="http://schemas.openxmlformats.org/drawingml/2006/table">
            <a:tbl>
              <a:tblPr firstRow="1" bandRow="1"/>
              <a:tblGrid>
                <a:gridCol w="35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Özellik grubu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Örnek özellikler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Neden seçildi?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Merkez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mean,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Genel güven seviyesini özetler.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Yayılım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std, min, max, q25, q75, 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Güvenin cevap boyunca ne kadar dalgalandığını gösterir.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Konum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mean_first10, mean_last10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Başlangıç ve nihai cevap çevresindeki güveni ayırır.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Düşük güven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prop_low_01, prop_low_02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Kararsız token yoğunluğunu ölçer.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Süreç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n_tokens,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Cevap uzunluğu ve güvenin zaman içindeki yönünü yakalar.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0B6B4FAF-3865-404D-B5F5-0049968585DB}"/>
              </a:ext>
            </a:extLst>
          </p:cNvPr>
          <p:cNvSpPr>
            <a:spLocks noGrp="1"/>
          </p:cNvSpPr>
          <p:nvPr/>
        </p:nvSpPr>
        <p:spPr>
          <a:xfrm>
            <a:off x="1123950" y="4991100"/>
            <a:ext cx="4667250" cy="666750"/>
          </a:xfrm>
          <a:prstGeom prst="roundRect">
            <a:avLst>
              <a:gd name="adj" fmla="val 11429"/>
            </a:avLst>
          </a:prstGeom>
          <a:solidFill>
            <a:srgbClr val="DDE8F4"/>
          </a:solidFill>
          <a:ln w="9525">
            <a:solidFill>
              <a:srgbClr val="245B8F"/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AFB53F79-AAFF-4BC6-9DAD-DDA00040D281}"/>
              </a:ext>
            </a:extLst>
          </p:cNvPr>
          <p:cNvSpPr>
            <a:spLocks noGrp="1"/>
          </p:cNvSpPr>
          <p:nvPr/>
        </p:nvSpPr>
        <p:spPr>
          <a:xfrm>
            <a:off x="1371600" y="5200650"/>
            <a:ext cx="417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μ = (1/T) Σ δₜ     σ = √[(1/T) Σ(δₜ−μ)²]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75F3E1DD-AADD-4DAE-8FE2-179168F51FA9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4667250" cy="666750"/>
          </a:xfrm>
          <a:prstGeom prst="roundRect">
            <a:avLst>
              <a:gd name="adj" fmla="val 11429"/>
            </a:avLst>
          </a:prstGeom>
          <a:solidFill>
            <a:srgbClr val="F2E1D7"/>
          </a:solidFill>
          <a:ln w="9525">
            <a:solidFill>
              <a:srgbClr val="C86B38"/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EEBCB1D-64A9-4E10-A90D-52ABC768A203}"/>
              </a:ext>
            </a:extLst>
          </p:cNvPr>
          <p:cNvSpPr>
            <a:spLocks noGrp="1"/>
          </p:cNvSpPr>
          <p:nvPr/>
        </p:nvSpPr>
        <p:spPr>
          <a:xfrm>
            <a:off x="6648450" y="5200650"/>
            <a:ext cx="417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C86B38"/>
                </a:solidFill>
              </a:defRPr>
            </a:pPr>
            <a:r>
              <a:rPr sz="1500" b="1">
                <a:solidFill>
                  <a:srgbClr val="C86B38"/>
                </a:solidFill>
              </a:rPr>
              <a:t>p&lt;θ = (1/T) Σ 1[δₜ &lt; θ],  θ ∈ {0.10, 0.20}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3BF3A55-45DC-4B98-99B9-AE8AC607CE3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A26D29E3-A4B5-40A9-A0E3-244EFB117DF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977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kdörtgen 15">
            <a:extLst>
              <a:ext uri="{FF2B5EF4-FFF2-40B4-BE49-F238E27FC236}">
                <a16:creationId xmlns:a16="http://schemas.microsoft.com/office/drawing/2014/main" id="{8D02FE6F-5EE9-434E-A89F-F6684648848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lang="tr-TR" sz="2850" b="1">
                <a:solidFill>
                  <a:srgbClr val="18212B"/>
                </a:solidFill>
              </a:rPr>
              <a:t>Doğru Yanlış Tahmini</a:t>
            </a:r>
            <a:endParaRPr lang="tr-TR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C5762BD-2F13-47AC-8810-045AA7F7C4D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C13467E9-99B7-4348-BBEA-23A868B3A7DA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EC60CAF-2CCF-41C6-B5FF-942D174DEF56}"/>
              </a:ext>
            </a:extLst>
          </p:cNvPr>
          <p:cNvSpPr>
            <a:spLocks noGrp="1"/>
          </p:cNvSpPr>
          <p:nvPr/>
        </p:nvSpPr>
        <p:spPr>
          <a:xfrm>
            <a:off x="1028700" y="215265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245B8F"/>
                </a:solidFill>
              </a:defRPr>
            </a:pPr>
            <a:r>
              <a:rPr sz="2550" b="1">
                <a:solidFill>
                  <a:srgbClr val="245B8F"/>
                </a:solidFill>
              </a:rPr>
              <a:t>357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007F3ED-0D6A-4566-A4EB-E7D242172A8E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toplam kayıt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0533985C-BD0C-424F-9FF0-61D8DE46E3B3}"/>
              </a:ext>
            </a:extLst>
          </p:cNvPr>
          <p:cNvSpPr>
            <a:spLocks noGrp="1"/>
          </p:cNvSpPr>
          <p:nvPr/>
        </p:nvSpPr>
        <p:spPr>
          <a:xfrm>
            <a:off x="3390900" y="200025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8EDBC12-984E-48BD-A79B-83E2633BBC93}"/>
              </a:ext>
            </a:extLst>
          </p:cNvPr>
          <p:cNvSpPr>
            <a:spLocks noGrp="1"/>
          </p:cNvSpPr>
          <p:nvPr/>
        </p:nvSpPr>
        <p:spPr>
          <a:xfrm>
            <a:off x="3581400" y="215265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E7D5B"/>
                </a:solidFill>
              </a:defRPr>
            </a:pPr>
            <a:r>
              <a:rPr sz="2100" b="1">
                <a:solidFill>
                  <a:srgbClr val="2E7D5B"/>
                </a:solidFill>
              </a:rPr>
              <a:t>187 / 170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0742B923-6BE3-48B4-AFB7-DADA03DA5AF6}"/>
              </a:ext>
            </a:extLst>
          </p:cNvPr>
          <p:cNvSpPr>
            <a:spLocks noGrp="1"/>
          </p:cNvSpPr>
          <p:nvPr/>
        </p:nvSpPr>
        <p:spPr>
          <a:xfrm>
            <a:off x="3581400" y="26670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doğru / yanlış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BC744983-94C6-4077-ADAA-840E15583398}"/>
              </a:ext>
            </a:extLst>
          </p:cNvPr>
          <p:cNvSpPr>
            <a:spLocks noGrp="1"/>
          </p:cNvSpPr>
          <p:nvPr/>
        </p:nvSpPr>
        <p:spPr>
          <a:xfrm>
            <a:off x="5943600" y="200025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63693AF-0600-4CEF-81D0-583AC7E53B62}"/>
              </a:ext>
            </a:extLst>
          </p:cNvPr>
          <p:cNvSpPr>
            <a:spLocks noGrp="1"/>
          </p:cNvSpPr>
          <p:nvPr/>
        </p:nvSpPr>
        <p:spPr>
          <a:xfrm>
            <a:off x="6134100" y="215265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86B38"/>
                </a:solidFill>
              </a:defRPr>
            </a:pPr>
            <a:r>
              <a:rPr sz="2550" b="1">
                <a:solidFill>
                  <a:srgbClr val="C86B38"/>
                </a:solidFill>
              </a:rPr>
              <a:t>340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70010D87-5DC3-4B94-8DB9-85332CFABD32}"/>
              </a:ext>
            </a:extLst>
          </p:cNvPr>
          <p:cNvSpPr>
            <a:spLocks noGrp="1"/>
          </p:cNvSpPr>
          <p:nvPr/>
        </p:nvSpPr>
        <p:spPr>
          <a:xfrm>
            <a:off x="6134100" y="26670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dengeli kullanılan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4450ABC8-B2DB-4F81-9578-4ED12339066C}"/>
              </a:ext>
            </a:extLst>
          </p:cNvPr>
          <p:cNvSpPr>
            <a:spLocks noGrp="1"/>
          </p:cNvSpPr>
          <p:nvPr/>
        </p:nvSpPr>
        <p:spPr>
          <a:xfrm>
            <a:off x="8496300" y="200025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FD44A9F-591C-41A1-A2D1-D88B7CFF0D75}"/>
              </a:ext>
            </a:extLst>
          </p:cNvPr>
          <p:cNvSpPr>
            <a:spLocks noGrp="1"/>
          </p:cNvSpPr>
          <p:nvPr/>
        </p:nvSpPr>
        <p:spPr>
          <a:xfrm>
            <a:off x="8686800" y="215265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B84A4A"/>
                </a:solidFill>
              </a:defRPr>
            </a:pPr>
            <a:r>
              <a:rPr sz="2550" b="1">
                <a:solidFill>
                  <a:srgbClr val="B84A4A"/>
                </a:solidFill>
              </a:rPr>
              <a:t>100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34538878-6AC1-46E6-9AE2-A48A82D83924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test seti</a:t>
            </a:r>
          </a:p>
        </p:txBody>
      </p:sp>
      <p:graphicFrame>
        <p:nvGraphicFramePr>
          <p:cNvPr id="35" name="Tablo 34"/>
          <p:cNvGraphicFramePr/>
          <p:nvPr/>
        </p:nvGraphicFramePr>
        <p:xfrm>
          <a:off x="1866900" y="3619500"/>
          <a:ext cx="8458200" cy="1447800"/>
        </p:xfrm>
        <a:graphic>
          <a:graphicData uri="http://schemas.openxmlformats.org/drawingml/2006/table">
            <a:tbl>
              <a:tblPr firstRow="1" bandRow="1"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Küme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Doğru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Yanlış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Toplam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Eğitim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Dikdörtgen 16">
            <a:extLst>
              <a:ext uri="{FF2B5EF4-FFF2-40B4-BE49-F238E27FC236}">
                <a16:creationId xmlns:a16="http://schemas.microsoft.com/office/drawing/2014/main" id="{DDD4EDDC-5139-41DD-97A3-9373AE443E85}"/>
              </a:ext>
            </a:extLst>
          </p:cNvPr>
          <p:cNvSpPr>
            <a:spLocks noGrp="1"/>
          </p:cNvSpPr>
          <p:nvPr/>
        </p:nvSpPr>
        <p:spPr>
          <a:xfrm>
            <a:off x="1428750" y="54292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Bu </a:t>
            </a:r>
            <a:r>
              <a:rPr sz="1350" dirty="0" err="1">
                <a:solidFill>
                  <a:srgbClr val="5B6773"/>
                </a:solidFill>
              </a:rPr>
              <a:t>sunumdaki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metrikler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mevcut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çalıştırmadaki</a:t>
            </a:r>
            <a:r>
              <a:rPr sz="1350" dirty="0">
                <a:solidFill>
                  <a:srgbClr val="5B6773"/>
                </a:solidFill>
              </a:rPr>
              <a:t> 240 </a:t>
            </a:r>
            <a:r>
              <a:rPr sz="1350" dirty="0" err="1">
                <a:solidFill>
                  <a:srgbClr val="5B6773"/>
                </a:solidFill>
              </a:rPr>
              <a:t>eğitim</a:t>
            </a:r>
            <a:r>
              <a:rPr sz="1350" dirty="0">
                <a:solidFill>
                  <a:srgbClr val="5B6773"/>
                </a:solidFill>
              </a:rPr>
              <a:t> + 100 test</a:t>
            </a: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CE2D5E3E-15D5-4271-86B7-8E0BF5919B3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9031987-D3AA-4278-8E89-4197C247CDC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5983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AAB00019-0502-437D-94C3-F7087FA3D58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Notebook Çıktısı: Veri Temizleme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1199375-6E59-4125-B560-4375BEEC662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0BC80E0-3034-4732-B31F-24D288EAAC0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pic>
        <p:nvPicPr>
          <p:cNvPr id="21" name="Resim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574" y="1396905"/>
            <a:ext cx="8521778" cy="4418746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53F20D09-2712-4065-942D-3FAC0E7533A1}"/>
              </a:ext>
            </a:extLst>
          </p:cNvPr>
          <p:cNvSpPr>
            <a:spLocks noGrp="1"/>
          </p:cNvSpPr>
          <p:nvPr/>
        </p:nvSpPr>
        <p:spPr>
          <a:xfrm>
            <a:off x="1162050" y="533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1">
                <a:solidFill>
                  <a:srgbClr val="2E7D5B"/>
                </a:solidFill>
              </a:defRPr>
            </a:pPr>
            <a:endParaRPr lang="tr-TR" sz="1500" b="1" dirty="0">
              <a:solidFill>
                <a:srgbClr val="2E7D5B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8EFE6F6-EAC0-4A04-A13E-3C7673C46B08}"/>
              </a:ext>
            </a:extLst>
          </p:cNvPr>
          <p:cNvSpPr>
            <a:spLocks noGrp="1"/>
          </p:cNvSpPr>
          <p:nvPr/>
        </p:nvSpPr>
        <p:spPr>
          <a:xfrm>
            <a:off x="1162050" y="561975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>
                <a:solidFill>
                  <a:srgbClr val="18212B"/>
                </a:solidFill>
              </a:defRPr>
            </a:pPr>
            <a:endParaRPr lang="tr-TR" sz="1050" dirty="0">
              <a:solidFill>
                <a:srgbClr val="18212B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622782B-6B6C-46A1-9705-A3D6549C4F3F}"/>
              </a:ext>
            </a:extLst>
          </p:cNvPr>
          <p:cNvSpPr>
            <a:spLocks noGrp="1"/>
          </p:cNvSpPr>
          <p:nvPr/>
        </p:nvSpPr>
        <p:spPr>
          <a:xfrm>
            <a:off x="4800600" y="533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1">
                <a:solidFill>
                  <a:srgbClr val="245B8F"/>
                </a:solidFill>
              </a:defRPr>
            </a:pPr>
            <a:endParaRPr lang="tr-TR" sz="1500" b="1" dirty="0">
              <a:solidFill>
                <a:srgbClr val="245B8F"/>
              </a:soli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F69FF50-AB0C-44CA-91CD-288B64EFEF84}"/>
              </a:ext>
            </a:extLst>
          </p:cNvPr>
          <p:cNvSpPr>
            <a:spLocks noGrp="1"/>
          </p:cNvSpPr>
          <p:nvPr/>
        </p:nvSpPr>
        <p:spPr>
          <a:xfrm>
            <a:off x="4800600" y="561975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>
                <a:solidFill>
                  <a:srgbClr val="18212B"/>
                </a:solidFill>
              </a:defRPr>
            </a:pPr>
            <a:endParaRPr lang="tr-TR" sz="1050" dirty="0">
              <a:solidFill>
                <a:srgbClr val="18212B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69B22C8-87F8-4AD2-BCBC-18E832913AA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3CF81AA-F3E6-4408-AA97-4BDCDC3B0DA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8196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EEC61AC9-FE83-4C66-AFB3-0B943ED638A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 dirty="0">
                <a:solidFill>
                  <a:srgbClr val="18212B"/>
                </a:solidFill>
              </a:rPr>
              <a:t> Final Test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491AC24-AA45-4A75-9E0A-B821AD04D9E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Final deneyde 240 eğitim ve 100 test örneği kullanıldı; test sınıfları dengelendi.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D064242-732C-4235-BA43-85F1D5A5989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7852A158-06F0-4A78-8DA2-103DF32B4DAD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685800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21" name="Resim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1402" y="1866900"/>
            <a:ext cx="4662996" cy="3638550"/>
          </a:xfrm>
          <a:prstGeom prst="rect">
            <a:avLst/>
          </a:prstGeom>
        </p:spPr>
      </p:pic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D3AE52AF-7A90-4743-8937-26398F630861}"/>
              </a:ext>
            </a:extLst>
          </p:cNvPr>
          <p:cNvSpPr>
            <a:spLocks noGrp="1"/>
          </p:cNvSpPr>
          <p:nvPr/>
        </p:nvSpPr>
        <p:spPr>
          <a:xfrm>
            <a:off x="8039100" y="1866900"/>
            <a:ext cx="2990850" cy="990600"/>
          </a:xfrm>
          <a:prstGeom prst="roundRect">
            <a:avLst>
              <a:gd name="adj" fmla="val 7692"/>
            </a:avLst>
          </a:prstGeom>
          <a:solidFill>
            <a:srgbClr val="DDE8F4"/>
          </a:solidFill>
          <a:ln w="9525">
            <a:solidFill>
              <a:srgbClr val="245B8F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7447BC4-413B-4310-8833-A605245D9CFD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45B8F"/>
                </a:solidFill>
              </a:defRPr>
            </a:pPr>
            <a:r>
              <a:rPr sz="1650" b="1">
                <a:solidFill>
                  <a:srgbClr val="245B8F"/>
                </a:solidFill>
              </a:rPr>
              <a:t>Train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4784FD8-AB4F-4A61-8EEB-BF70DA09D098}"/>
              </a:ext>
            </a:extLst>
          </p:cNvPr>
          <p:cNvSpPr>
            <a:spLocks noGrp="1"/>
          </p:cNvSpPr>
          <p:nvPr/>
        </p:nvSpPr>
        <p:spPr>
          <a:xfrm>
            <a:off x="82867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8212B"/>
                </a:solidFill>
              </a:defRPr>
            </a:pPr>
            <a:r>
              <a:rPr sz="1275">
                <a:solidFill>
                  <a:srgbClr val="18212B"/>
                </a:solidFill>
              </a:rPr>
              <a:t>120 doğru + 120 yanlış = 240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0C044BFD-00CF-4CAF-9431-F45DA090E617}"/>
              </a:ext>
            </a:extLst>
          </p:cNvPr>
          <p:cNvSpPr>
            <a:spLocks noGrp="1"/>
          </p:cNvSpPr>
          <p:nvPr/>
        </p:nvSpPr>
        <p:spPr>
          <a:xfrm>
            <a:off x="8039100" y="3143250"/>
            <a:ext cx="2990850" cy="990600"/>
          </a:xfrm>
          <a:prstGeom prst="roundRect">
            <a:avLst>
              <a:gd name="adj" fmla="val 7692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AEB3B4E-4769-4863-B72B-30446C3F2C5A}"/>
              </a:ext>
            </a:extLst>
          </p:cNvPr>
          <p:cNvSpPr>
            <a:spLocks noGrp="1"/>
          </p:cNvSpPr>
          <p:nvPr/>
        </p:nvSpPr>
        <p:spPr>
          <a:xfrm>
            <a:off x="8286750" y="33147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E7D5B"/>
                </a:solidFill>
              </a:defRPr>
            </a:pPr>
            <a:r>
              <a:rPr sz="1650" b="1">
                <a:solidFill>
                  <a:srgbClr val="2E7D5B"/>
                </a:solidFill>
              </a:rPr>
              <a:t>Test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F8B0AB6-4A49-495B-B171-8F4D001BA5A3}"/>
              </a:ext>
            </a:extLst>
          </p:cNvPr>
          <p:cNvSpPr>
            <a:spLocks noGrp="1"/>
          </p:cNvSpPr>
          <p:nvPr/>
        </p:nvSpPr>
        <p:spPr>
          <a:xfrm>
            <a:off x="8286750" y="36576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8212B"/>
                </a:solidFill>
              </a:defRPr>
            </a:pPr>
            <a:r>
              <a:rPr sz="1275">
                <a:solidFill>
                  <a:srgbClr val="18212B"/>
                </a:solidFill>
              </a:rPr>
              <a:t>50 doğru + 50 yanlış = 100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1366CBB7-9169-4B1C-AA9E-9E2176D14BFE}"/>
              </a:ext>
            </a:extLst>
          </p:cNvPr>
          <p:cNvSpPr>
            <a:spLocks noGrp="1"/>
          </p:cNvSpPr>
          <p:nvPr/>
        </p:nvSpPr>
        <p:spPr>
          <a:xfrm>
            <a:off x="8039100" y="4419600"/>
            <a:ext cx="2990850" cy="990600"/>
          </a:xfrm>
          <a:prstGeom prst="roundRect">
            <a:avLst>
              <a:gd name="adj" fmla="val 7692"/>
            </a:avLst>
          </a:prstGeom>
          <a:solidFill>
            <a:srgbClr val="F2E1D7"/>
          </a:solidFill>
          <a:ln w="9525">
            <a:solidFill>
              <a:srgbClr val="C86B38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2455611-B63D-4DC5-8A7B-B6EB46A675AE}"/>
              </a:ext>
            </a:extLst>
          </p:cNvPr>
          <p:cNvSpPr>
            <a:spLocks noGrp="1"/>
          </p:cNvSpPr>
          <p:nvPr/>
        </p:nvSpPr>
        <p:spPr>
          <a:xfrm>
            <a:off x="8286750" y="4591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C86B38"/>
                </a:solidFill>
              </a:defRPr>
            </a:pPr>
            <a:r>
              <a:rPr sz="1650" b="1">
                <a:solidFill>
                  <a:srgbClr val="C86B38"/>
                </a:solidFill>
              </a:rPr>
              <a:t>En dengeli model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CB0622D-E8A4-4989-8A4F-EB1677A655F8}"/>
              </a:ext>
            </a:extLst>
          </p:cNvPr>
          <p:cNvSpPr>
            <a:spLocks noGrp="1"/>
          </p:cNvSpPr>
          <p:nvPr/>
        </p:nvSpPr>
        <p:spPr>
          <a:xfrm>
            <a:off x="8286750" y="493395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8212B"/>
                </a:solidFill>
              </a:defRPr>
            </a:pPr>
            <a:r>
              <a:rPr sz="1275">
                <a:solidFill>
                  <a:srgbClr val="18212B"/>
                </a:solidFill>
              </a:rPr>
              <a:t>Gradient Boosting: F1=0.720, ROC-AUC=0.762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C862D93-D0E9-4DF8-8426-A6DC0DF3518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Betül Arslan  |  Hesaplamalı Anlambilim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D058058-8224-4A32-9353-396CCB59C36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887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E0430DB9-1DDD-463A-A5DB-7333EF15243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lang="tr-TR" sz="2850" b="1">
                <a:solidFill>
                  <a:srgbClr val="18212B"/>
                </a:solidFill>
              </a:rPr>
              <a:t>Token</a:t>
            </a:r>
            <a:r>
              <a:rPr sz="2850" b="1" dirty="0">
                <a:solidFill>
                  <a:srgbClr val="18212B"/>
                </a:solidFill>
              </a:rPr>
              <a:t> </a:t>
            </a:r>
            <a:r>
              <a:rPr sz="2850" b="1" dirty="0" err="1">
                <a:solidFill>
                  <a:srgbClr val="18212B"/>
                </a:solidFill>
              </a:rPr>
              <a:t>Bazlı</a:t>
            </a:r>
            <a:r>
              <a:rPr sz="2850" b="1" dirty="0">
                <a:solidFill>
                  <a:srgbClr val="18212B"/>
                </a:solidFill>
              </a:rPr>
              <a:t> Fark </a:t>
            </a:r>
            <a:r>
              <a:rPr sz="2850" b="1" dirty="0" err="1">
                <a:solidFill>
                  <a:srgbClr val="18212B"/>
                </a:solidFill>
              </a:rPr>
              <a:t>Dizisi</a:t>
            </a:r>
            <a:endParaRPr lang="tr-TR" sz="2850" b="1" dirty="0" err="1">
              <a:solidFill>
                <a:srgbClr val="18212B"/>
              </a:solidFill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4AC0522-E525-4B62-B7E7-EEF17C385863}"/>
              </a:ext>
            </a:extLst>
          </p:cNvPr>
          <p:cNvSpPr>
            <a:spLocks noGrp="1"/>
          </p:cNvSpPr>
          <p:nvPr/>
        </p:nvSpPr>
        <p:spPr>
          <a:xfrm>
            <a:off x="689212" y="1405719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 dirty="0">
                <a:solidFill>
                  <a:srgbClr val="5B6773"/>
                </a:solidFill>
              </a:rPr>
              <a:t>Tek </a:t>
            </a:r>
            <a:r>
              <a:rPr sz="1350" dirty="0" err="1">
                <a:solidFill>
                  <a:srgbClr val="5B6773"/>
                </a:solidFill>
              </a:rPr>
              <a:t>bir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doğru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ve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yanlış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örnekte</a:t>
            </a:r>
            <a:r>
              <a:rPr sz="1350" dirty="0">
                <a:solidFill>
                  <a:srgbClr val="5B6773"/>
                </a:solidFill>
              </a:rPr>
              <a:t> top1–top2 </a:t>
            </a:r>
            <a:r>
              <a:rPr sz="1350" dirty="0" err="1">
                <a:solidFill>
                  <a:srgbClr val="5B6773"/>
                </a:solidFill>
              </a:rPr>
              <a:t>farkının</a:t>
            </a:r>
            <a:r>
              <a:rPr sz="1350" dirty="0">
                <a:solidFill>
                  <a:srgbClr val="5B6773"/>
                </a:solidFill>
              </a:rPr>
              <a:t> token </a:t>
            </a:r>
            <a:r>
              <a:rPr sz="1350" dirty="0" err="1">
                <a:solidFill>
                  <a:srgbClr val="5B6773"/>
                </a:solidFill>
              </a:rPr>
              <a:t>boyunca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nasıl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değiştiği</a:t>
            </a:r>
            <a:r>
              <a:rPr lang="tr-TR" sz="1350" dirty="0">
                <a:solidFill>
                  <a:srgbClr val="5B6773"/>
                </a:solidFill>
              </a:rPr>
              <a:t> </a:t>
            </a:r>
            <a:r>
              <a:rPr lang="tr-TR" sz="1350" dirty="0" err="1">
                <a:solidFill>
                  <a:srgbClr val="5B6773"/>
                </a:solidFill>
              </a:rPr>
              <a:t>görünmektedir</a:t>
            </a:r>
            <a:r>
              <a:rPr lang="tr-TR" sz="1350" dirty="0">
                <a:solidFill>
                  <a:srgbClr val="5B6773"/>
                </a:solidFill>
              </a:rPr>
              <a:t>. 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A4C02F7-94A6-43F1-BE86-90BF438D7B8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6F50FCA8-3564-49D6-8F9B-6FCB030113EC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316230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18" name="Resi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7763" y="1866900"/>
            <a:ext cx="6956474" cy="2743200"/>
          </a:xfrm>
          <a:prstGeom prst="rect">
            <a:avLst/>
          </a:prstGeom>
        </p:spPr>
      </p:pic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3C671223-F6FB-43A0-BF96-02D170883B5A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4876800" cy="876300"/>
          </a:xfrm>
          <a:prstGeom prst="roundRect">
            <a:avLst>
              <a:gd name="adj" fmla="val 8696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2D3A109-534E-4E88-A10E-20EEF150E6E6}"/>
              </a:ext>
            </a:extLst>
          </p:cNvPr>
          <p:cNvSpPr>
            <a:spLocks noGrp="1"/>
          </p:cNvSpPr>
          <p:nvPr/>
        </p:nvSpPr>
        <p:spPr>
          <a:xfrm>
            <a:off x="1123950" y="52578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Yorum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B2CA707-3024-4EDD-A6F4-2AB53129AD35}"/>
              </a:ext>
            </a:extLst>
          </p:cNvPr>
          <p:cNvSpPr>
            <a:spLocks noGrp="1"/>
          </p:cNvSpPr>
          <p:nvPr/>
        </p:nvSpPr>
        <p:spPr>
          <a:xfrm>
            <a:off x="2209800" y="5219700"/>
            <a:ext cx="3276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8212B"/>
                </a:solidFill>
              </a:defRPr>
            </a:pPr>
            <a:r>
              <a:rPr sz="1200">
                <a:solidFill>
                  <a:srgbClr val="18212B"/>
                </a:solidFill>
              </a:rPr>
              <a:t>Doğru ve yanlış örnekler tamamen ayrışmıyor; bu yüzden tek grafik yerine istatistiksel özellikler çıkarıldı.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FFD6FAB9-5FA9-4D08-81A3-CD22B098BD96}"/>
              </a:ext>
            </a:extLst>
          </p:cNvPr>
          <p:cNvSpPr>
            <a:spLocks noGrp="1"/>
          </p:cNvSpPr>
          <p:nvPr/>
        </p:nvSpPr>
        <p:spPr>
          <a:xfrm>
            <a:off x="6400800" y="5067300"/>
            <a:ext cx="4876800" cy="876300"/>
          </a:xfrm>
          <a:prstGeom prst="roundRect">
            <a:avLst>
              <a:gd name="adj" fmla="val 8696"/>
            </a:avLst>
          </a:prstGeom>
          <a:solidFill>
            <a:srgbClr val="F2E1D7"/>
          </a:solidFill>
          <a:ln w="9525">
            <a:solidFill>
              <a:srgbClr val="C86B38"/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C5DDCB4F-1C13-4BA5-950F-2CD55FDCCDA8}"/>
              </a:ext>
            </a:extLst>
          </p:cNvPr>
          <p:cNvSpPr>
            <a:spLocks noGrp="1"/>
          </p:cNvSpPr>
          <p:nvPr/>
        </p:nvSpPr>
        <p:spPr>
          <a:xfrm>
            <a:off x="6610350" y="52578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C86B38"/>
                </a:solidFill>
              </a:defRPr>
            </a:pPr>
            <a:r>
              <a:rPr sz="1350" b="1">
                <a:solidFill>
                  <a:srgbClr val="C86B38"/>
                </a:solidFill>
              </a:rPr>
              <a:t>Anlam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0A42D42-F23F-47C2-800D-8EB3D0FB5101}"/>
              </a:ext>
            </a:extLst>
          </p:cNvPr>
          <p:cNvSpPr>
            <a:spLocks noGrp="1"/>
          </p:cNvSpPr>
          <p:nvPr/>
        </p:nvSpPr>
        <p:spPr>
          <a:xfrm>
            <a:off x="7696200" y="5219700"/>
            <a:ext cx="3276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8212B"/>
                </a:solidFill>
              </a:defRPr>
            </a:pPr>
            <a:r>
              <a:rPr sz="1200">
                <a:solidFill>
                  <a:srgbClr val="18212B"/>
                </a:solidFill>
              </a:rPr>
              <a:t>Model birçok token için yüksek fark üretse bile nihai matematik cevabı yanlış olabilir.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AE848F4-A699-4315-BABF-49E077CA595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BE06C6E-74F3-4662-B501-42AD91700D9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839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D5FCB4AA-D1BA-4013-861D-6C383EBAFAD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lang="tr-TR" sz="2850" b="1" dirty="0">
                <a:solidFill>
                  <a:srgbClr val="18212B"/>
                </a:solidFill>
              </a:rPr>
              <a:t>Ortalama</a:t>
            </a:r>
            <a:r>
              <a:rPr sz="2850" b="1" dirty="0">
                <a:solidFill>
                  <a:srgbClr val="18212B"/>
                </a:solidFill>
              </a:rPr>
              <a:t> Fark </a:t>
            </a:r>
            <a:r>
              <a:rPr sz="2850" b="1" dirty="0" err="1">
                <a:solidFill>
                  <a:srgbClr val="18212B"/>
                </a:solidFill>
              </a:rPr>
              <a:t>Dağılımı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1FD4511-2BD9-4AD8-B8FF-BD9A499662AB}"/>
              </a:ext>
            </a:extLst>
          </p:cNvPr>
          <p:cNvSpPr>
            <a:spLocks noGrp="1"/>
          </p:cNvSpPr>
          <p:nvPr/>
        </p:nvSpPr>
        <p:spPr>
          <a:xfrm>
            <a:off x="467436" y="5801436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 dirty="0">
                <a:solidFill>
                  <a:srgbClr val="5B6773"/>
                </a:solidFill>
              </a:rPr>
              <a:t>Sadece </a:t>
            </a:r>
            <a:r>
              <a:rPr sz="1350" dirty="0" err="1">
                <a:solidFill>
                  <a:srgbClr val="5B6773"/>
                </a:solidFill>
              </a:rPr>
              <a:t>ortalama</a:t>
            </a:r>
            <a:r>
              <a:rPr sz="1350" dirty="0">
                <a:solidFill>
                  <a:srgbClr val="5B6773"/>
                </a:solidFill>
              </a:rPr>
              <a:t> top1–top2 </a:t>
            </a:r>
            <a:r>
              <a:rPr sz="1350" dirty="0" err="1">
                <a:solidFill>
                  <a:srgbClr val="5B6773"/>
                </a:solidFill>
              </a:rPr>
              <a:t>farkı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tek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başına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yeterli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değildir</a:t>
            </a:r>
            <a:r>
              <a:rPr sz="1350" dirty="0">
                <a:solidFill>
                  <a:srgbClr val="5B6773"/>
                </a:solidFill>
              </a:rPr>
              <a:t>; </a:t>
            </a:r>
            <a:r>
              <a:rPr sz="1350" dirty="0" err="1">
                <a:solidFill>
                  <a:srgbClr val="5B6773"/>
                </a:solidFill>
              </a:rPr>
              <a:t>dağılımlar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örtüşmektedir</a:t>
            </a:r>
            <a:r>
              <a:rPr sz="1350" dirty="0">
                <a:solidFill>
                  <a:srgbClr val="5B6773"/>
                </a:solidFill>
              </a:rPr>
              <a:t>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4ABE319-6849-4504-80B0-BACD3D2F413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E883E085-44BE-4A8E-9E59-463BBF0F7FA3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619125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20" name="Resi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1555" y="1962150"/>
            <a:ext cx="5654040" cy="3200400"/>
          </a:xfrm>
          <a:prstGeom prst="rect">
            <a:avLst/>
          </a:prstGeom>
        </p:spPr>
      </p:pic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89FA5530-37C4-45FE-BBB9-B5AB3E5B83AC}"/>
              </a:ext>
            </a:extLst>
          </p:cNvPr>
          <p:cNvSpPr>
            <a:spLocks noGrp="1"/>
          </p:cNvSpPr>
          <p:nvPr/>
        </p:nvSpPr>
        <p:spPr>
          <a:xfrm>
            <a:off x="7429500" y="196215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90F1EF8-0FEF-44D9-BB74-5B64746F2810}"/>
              </a:ext>
            </a:extLst>
          </p:cNvPr>
          <p:cNvSpPr>
            <a:spLocks noGrp="1"/>
          </p:cNvSpPr>
          <p:nvPr/>
        </p:nvSpPr>
        <p:spPr>
          <a:xfrm>
            <a:off x="7677150" y="2152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18212B"/>
                </a:solidFill>
              </a:defRPr>
            </a:pPr>
            <a:endParaRPr lang="tr-TR" sz="1650" b="1">
              <a:solidFill>
                <a:srgbClr val="18212B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38FA59B-D9F6-43C3-9387-6F7DB315E469}"/>
              </a:ext>
            </a:extLst>
          </p:cNvPr>
          <p:cNvSpPr>
            <a:spLocks noGrp="1"/>
          </p:cNvSpPr>
          <p:nvPr/>
        </p:nvSpPr>
        <p:spPr>
          <a:xfrm>
            <a:off x="7677150" y="25146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275">
                <a:solidFill>
                  <a:srgbClr val="5B6773"/>
                </a:solidFill>
              </a:defRPr>
            </a:pPr>
            <a:r>
              <a:rPr sz="1250" dirty="0">
                <a:solidFill>
                  <a:srgbClr val="5B6773"/>
                </a:solidFill>
              </a:rPr>
              <a:t>Doğru </a:t>
            </a:r>
            <a:r>
              <a:rPr sz="1250" err="1">
                <a:solidFill>
                  <a:srgbClr val="5B6773"/>
                </a:solidFill>
              </a:rPr>
              <a:t>ve</a:t>
            </a:r>
            <a:r>
              <a:rPr sz="1250" dirty="0">
                <a:solidFill>
                  <a:srgbClr val="5B6773"/>
                </a:solidFill>
              </a:rPr>
              <a:t> </a:t>
            </a:r>
            <a:r>
              <a:rPr sz="1250" err="1">
                <a:solidFill>
                  <a:srgbClr val="5B6773"/>
                </a:solidFill>
              </a:rPr>
              <a:t>yanlış</a:t>
            </a:r>
            <a:r>
              <a:rPr sz="1250" dirty="0">
                <a:solidFill>
                  <a:srgbClr val="5B6773"/>
                </a:solidFill>
              </a:rPr>
              <a:t> </a:t>
            </a:r>
            <a:r>
              <a:rPr sz="1250" err="1">
                <a:solidFill>
                  <a:srgbClr val="5B6773"/>
                </a:solidFill>
              </a:rPr>
              <a:t>cevapların</a:t>
            </a:r>
            <a:r>
              <a:rPr sz="1250" dirty="0">
                <a:solidFill>
                  <a:srgbClr val="5B6773"/>
                </a:solidFill>
              </a:rPr>
              <a:t> </a:t>
            </a:r>
            <a:r>
              <a:rPr sz="1250" err="1">
                <a:solidFill>
                  <a:srgbClr val="5B6773"/>
                </a:solidFill>
              </a:rPr>
              <a:t>ortalama</a:t>
            </a:r>
            <a:r>
              <a:rPr sz="1250" dirty="0">
                <a:solidFill>
                  <a:srgbClr val="5B6773"/>
                </a:solidFill>
              </a:rPr>
              <a:t> fark </a:t>
            </a:r>
            <a:r>
              <a:rPr sz="1250">
                <a:solidFill>
                  <a:srgbClr val="5B6773"/>
                </a:solidFill>
              </a:rPr>
              <a:t>dağılımı </a:t>
            </a:r>
            <a:endParaRPr lang="tr-TR" sz="1250">
              <a:solidFill>
                <a:srgbClr val="5B6773"/>
              </a:solidFill>
            </a:endParaRP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3AA8B718-CE97-4813-B410-B164F0F65548}"/>
              </a:ext>
            </a:extLst>
          </p:cNvPr>
          <p:cNvSpPr>
            <a:spLocks noGrp="1"/>
          </p:cNvSpPr>
          <p:nvPr/>
        </p:nvSpPr>
        <p:spPr>
          <a:xfrm>
            <a:off x="7429500" y="329565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1EB6FD1-8F6A-49C2-9DDD-2E9933E08C9C}"/>
              </a:ext>
            </a:extLst>
          </p:cNvPr>
          <p:cNvSpPr>
            <a:spLocks noGrp="1"/>
          </p:cNvSpPr>
          <p:nvPr/>
        </p:nvSpPr>
        <p:spPr>
          <a:xfrm>
            <a:off x="7677150" y="3486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E7D5B"/>
                </a:solidFill>
              </a:defRPr>
            </a:pPr>
            <a:r>
              <a:rPr sz="1650" b="1">
                <a:solidFill>
                  <a:srgbClr val="2E7D5B"/>
                </a:solidFill>
              </a:rPr>
              <a:t>Sonuç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28EE455E-7B17-4226-9877-94A01776A3E3}"/>
              </a:ext>
            </a:extLst>
          </p:cNvPr>
          <p:cNvSpPr>
            <a:spLocks noGrp="1"/>
          </p:cNvSpPr>
          <p:nvPr/>
        </p:nvSpPr>
        <p:spPr>
          <a:xfrm>
            <a:off x="7677150" y="38481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B6773"/>
                </a:solidFill>
              </a:defRPr>
            </a:pPr>
            <a:r>
              <a:rPr sz="1275">
                <a:solidFill>
                  <a:srgbClr val="5B6773"/>
                </a:solidFill>
              </a:rPr>
              <a:t>Tek istatistik yerine 14 özellik birlikte kullanılmalı.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007538FD-EFC3-49E4-AA07-79CCF9D39C95}"/>
              </a:ext>
            </a:extLst>
          </p:cNvPr>
          <p:cNvSpPr>
            <a:spLocks noGrp="1"/>
          </p:cNvSpPr>
          <p:nvPr/>
        </p:nvSpPr>
        <p:spPr>
          <a:xfrm>
            <a:off x="7429500" y="4629150"/>
            <a:ext cx="3429000" cy="857250"/>
          </a:xfrm>
          <a:prstGeom prst="roundRect">
            <a:avLst>
              <a:gd name="adj" fmla="val 8889"/>
            </a:avLst>
          </a:prstGeom>
          <a:solidFill>
            <a:srgbClr val="DDE8F4"/>
          </a:solidFill>
          <a:ln w="9525">
            <a:solidFill>
              <a:srgbClr val="245B8F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C463D3D-ABA1-44D5-8E8D-B59D8FBB05C3}"/>
              </a:ext>
            </a:extLst>
          </p:cNvPr>
          <p:cNvSpPr>
            <a:spLocks noGrp="1"/>
          </p:cNvSpPr>
          <p:nvPr/>
        </p:nvSpPr>
        <p:spPr>
          <a:xfrm>
            <a:off x="7677150" y="4895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45B8F"/>
                </a:solidFill>
              </a:defRPr>
            </a:pPr>
            <a:r>
              <a:rPr sz="1650" b="1">
                <a:solidFill>
                  <a:srgbClr val="245B8F"/>
                </a:solidFill>
              </a:rPr>
              <a:t>Bu nedenle sınıflandırıcıya 14 özellik verildi.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13D2E45-8A85-48F5-A4FC-125CE46079B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DBDE981-F325-4B62-801A-DEDA5B9D2F3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8943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3D039CD2-E1F8-4BB6-A150-07FC8A6F3D0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Model Performansı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7D2026D-D566-4373-BD80-25D11DD0C8CA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 dirty="0" err="1">
                <a:solidFill>
                  <a:srgbClr val="5B6773"/>
                </a:solidFill>
              </a:rPr>
              <a:t>Üç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klasik</a:t>
            </a:r>
            <a:r>
              <a:rPr sz="1350" dirty="0">
                <a:solidFill>
                  <a:srgbClr val="5B6773"/>
                </a:solidFill>
              </a:rPr>
              <a:t> ML </a:t>
            </a:r>
            <a:r>
              <a:rPr sz="1350" dirty="0" err="1">
                <a:solidFill>
                  <a:srgbClr val="5B6773"/>
                </a:solidFill>
              </a:rPr>
              <a:t>algoritması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aynı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özellik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setiyle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karşılaştırıldı</a:t>
            </a:r>
            <a:r>
              <a:rPr sz="1350" dirty="0">
                <a:solidFill>
                  <a:srgbClr val="5B6773"/>
                </a:solidFill>
              </a:rPr>
              <a:t>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1429594-3EB1-4497-8749-79082DF55EE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graphicFrame>
        <p:nvGraphicFramePr>
          <p:cNvPr id="15" name="Tablo 14"/>
          <p:cNvGraphicFramePr/>
          <p:nvPr/>
        </p:nvGraphicFramePr>
        <p:xfrm>
          <a:off x="685800" y="1714500"/>
          <a:ext cx="5524500" cy="1695452"/>
        </p:xfrm>
        <a:graphic>
          <a:graphicData uri="http://schemas.openxmlformats.org/drawingml/2006/table">
            <a:tbl>
              <a:tblPr firstRow="1" bandRow="1"/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Rec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8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12B"/>
                          </a:solidFill>
                        </a:rPr>
                        <a:t>0.762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6C496F90-E5DE-43E8-86C7-EF8FC3C1C425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4953000" cy="1104900"/>
          </a:xfrm>
          <a:prstGeom prst="roundRect">
            <a:avLst>
              <a:gd name="adj" fmla="val 6897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D667345-2F90-4F24-A177-36F31134B9DB}"/>
              </a:ext>
            </a:extLst>
          </p:cNvPr>
          <p:cNvSpPr>
            <a:spLocks noGrp="1"/>
          </p:cNvSpPr>
          <p:nvPr/>
        </p:nvSpPr>
        <p:spPr>
          <a:xfrm>
            <a:off x="1143000" y="40386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En dengeli model: Gradient Boosting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2F8331B-3C9D-4F2E-B869-67C331122DE2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Accuracy, Recall ve F1 değerleri aynı anda 0.72; AUC değeri de en yüksek.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A0401066-BA18-42D7-9CB2-65D8FE251F99}"/>
              </a:ext>
            </a:extLst>
          </p:cNvPr>
          <p:cNvSpPr>
            <a:spLocks noGrp="1"/>
          </p:cNvSpPr>
          <p:nvPr/>
        </p:nvSpPr>
        <p:spPr>
          <a:xfrm>
            <a:off x="6705600" y="1676400"/>
            <a:ext cx="43434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20" name="Resi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0" y="2002510"/>
            <a:ext cx="3848100" cy="3195880"/>
          </a:xfrm>
          <a:prstGeom prst="rect">
            <a:avLst/>
          </a:prstGeom>
        </p:spPr>
      </p:pic>
      <p:sp>
        <p:nvSpPr>
          <p:cNvPr id="10" name="Dikdörtgen 9">
            <a:extLst>
              <a:ext uri="{FF2B5EF4-FFF2-40B4-BE49-F238E27FC236}">
                <a16:creationId xmlns:a16="http://schemas.microsoft.com/office/drawing/2014/main" id="{7EFB5E96-0A49-45AB-A030-C0175ECCAB7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BF24AB6-FD35-4CD9-8B0E-2B5F152F14B5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4885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7C33B7D1-AE9A-4738-9BE6-A0B29EEDCD7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Confusion Matrix:</a:t>
            </a:r>
            <a:endParaRPr lang="tr-TR" sz="2850" b="1">
              <a:solidFill>
                <a:srgbClr val="18212B"/>
              </a:solidFill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181379E-19E7-4F4F-A1F6-3F7E23ACA91A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endParaRPr lang="tr-TR" sz="1350" dirty="0">
              <a:solidFill>
                <a:srgbClr val="5B6773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464B4BB-8337-44AA-A560-8C29E362492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087C2554-5A69-4822-8AAA-7BE70648BBA6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11010900" cy="325755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21" name="Resim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1376" y="1885950"/>
            <a:ext cx="10109249" cy="2838450"/>
          </a:xfrm>
          <a:prstGeom prst="rect">
            <a:avLst/>
          </a:prstGeom>
        </p:spPr>
      </p:pic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C53CD8F-CE90-40D1-AA17-45FAE057EDF5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8E8A711-1FBA-41B5-AC7E-BE5C35CEEDB6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LR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22C3AC0-12FB-4C04-B89E-3D28F35C3F82}"/>
              </a:ext>
            </a:extLst>
          </p:cNvPr>
          <p:cNvSpPr>
            <a:spLocks noGrp="1"/>
          </p:cNvSpPr>
          <p:nvPr/>
        </p:nvSpPr>
        <p:spPr>
          <a:xfrm>
            <a:off x="1733550" y="5324475"/>
            <a:ext cx="2171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Yanlışları iyi yakalıyor; doğru cevapları daha fazla kaçırıyor.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54FE2C04-4A34-4306-A15E-D615ECA7B31D}"/>
              </a:ext>
            </a:extLst>
          </p:cNvPr>
          <p:cNvSpPr>
            <a:spLocks noGrp="1"/>
          </p:cNvSpPr>
          <p:nvPr/>
        </p:nvSpPr>
        <p:spPr>
          <a:xfrm>
            <a:off x="4514850" y="521970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728BAD3-FFF9-4F50-9664-4FA240453657}"/>
              </a:ext>
            </a:extLst>
          </p:cNvPr>
          <p:cNvSpPr>
            <a:spLocks noGrp="1"/>
          </p:cNvSpPr>
          <p:nvPr/>
        </p:nvSpPr>
        <p:spPr>
          <a:xfrm>
            <a:off x="4724400" y="5429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E7D5B"/>
                </a:solidFill>
              </a:defRPr>
            </a:pPr>
            <a:r>
              <a:rPr sz="1500" b="1">
                <a:solidFill>
                  <a:srgbClr val="2E7D5B"/>
                </a:solidFill>
              </a:rPr>
              <a:t>RF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20A3809-5918-41DF-942C-3DF2937A2828}"/>
              </a:ext>
            </a:extLst>
          </p:cNvPr>
          <p:cNvSpPr>
            <a:spLocks noGrp="1"/>
          </p:cNvSpPr>
          <p:nvPr/>
        </p:nvSpPr>
        <p:spPr>
          <a:xfrm>
            <a:off x="5219700" y="5324475"/>
            <a:ext cx="2171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B6773"/>
                </a:solidFill>
              </a:defRPr>
            </a:pPr>
            <a:r>
              <a:rPr sz="1125">
                <a:solidFill>
                  <a:srgbClr val="5B6773"/>
                </a:solidFill>
              </a:rPr>
              <a:t>İki sınıf daha dengeli; genel skor GB’den düşük.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D5ACBF31-1BA9-49C0-9D9C-75B09B838BB7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1D2118C1-8208-4ECA-A2A0-2A54E4B177C0}"/>
              </a:ext>
            </a:extLst>
          </p:cNvPr>
          <p:cNvSpPr>
            <a:spLocks noGrp="1"/>
          </p:cNvSpPr>
          <p:nvPr/>
        </p:nvSpPr>
        <p:spPr>
          <a:xfrm>
            <a:off x="8210550" y="5429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E7D5B"/>
                </a:solidFill>
              </a:defRPr>
            </a:pPr>
            <a:r>
              <a:rPr sz="1500" b="1">
                <a:solidFill>
                  <a:srgbClr val="2E7D5B"/>
                </a:solidFill>
              </a:rPr>
              <a:t>GB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A29569C-3C74-4A18-AA33-5AC096077C6E}"/>
              </a:ext>
            </a:extLst>
          </p:cNvPr>
          <p:cNvSpPr>
            <a:spLocks noGrp="1"/>
          </p:cNvSpPr>
          <p:nvPr/>
        </p:nvSpPr>
        <p:spPr>
          <a:xfrm>
            <a:off x="8705850" y="5324475"/>
            <a:ext cx="2171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8212B"/>
                </a:solidFill>
              </a:defRPr>
            </a:pPr>
            <a:r>
              <a:rPr sz="1125">
                <a:solidFill>
                  <a:srgbClr val="18212B"/>
                </a:solidFill>
              </a:rPr>
              <a:t>36/50 doğru ve 36/50 yanlış örneği doğru sınıflandırdı.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3BE677EA-A770-424F-9560-A9B9D7E1183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2CD4131-B77F-49E4-99FE-1574CE9645D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2883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D60722FC-3D4A-4368-958F-406B001C333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Hangi Özellikler Daha Etkili?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6366C65-84A2-4B27-92B2-1D8C1933348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>
                <a:solidFill>
                  <a:srgbClr val="5B6773"/>
                </a:solidFill>
              </a:rPr>
              <a:t>Ağaç tabanlı modeller, karar için özellikle cevap uzunluğu ve süreç özelliklerini kullandı.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0FFB00A-E07C-4F48-89B6-D2D1FB5C680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B4F32A5F-A797-4972-A3EC-A98097B05EC3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11010900" cy="35052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pic>
        <p:nvPicPr>
          <p:cNvPr id="14" name="Resi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48926" y="1885950"/>
            <a:ext cx="8694148" cy="3067050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388DD050-C793-49A6-9030-8B8E062DB8DB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Öne çıkan sinyaller: n_tokens, mean_first10, prop_low_01, trend, q75 ve mean_last10.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FCF3F29-F57F-42A3-B152-B7A6C6DA19BB}"/>
              </a:ext>
            </a:extLst>
          </p:cNvPr>
          <p:cNvSpPr>
            <a:spLocks noGrp="1"/>
          </p:cNvSpPr>
          <p:nvPr/>
        </p:nvSpPr>
        <p:spPr>
          <a:xfrm>
            <a:off x="1600200" y="5772150"/>
            <a:ext cx="899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5B6773"/>
                </a:solidFill>
              </a:defRPr>
            </a:pPr>
            <a:r>
              <a:rPr sz="1275">
                <a:solidFill>
                  <a:srgbClr val="5B6773"/>
                </a:solidFill>
              </a:rPr>
              <a:t>n_tokens doğrudan güven ölçüsü değildir; Cosmos-T1’in uzun düşünme çıktılarında token limitine yaklaşma davranışını yakalayan bir vekil sinyaldir.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AC671E6-F98E-4A03-B5C6-663FA4781B4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DE8A943-1717-405C-804E-70760BF734D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94187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>
            <a:extLst>
              <a:ext uri="{FF2B5EF4-FFF2-40B4-BE49-F238E27FC236}">
                <a16:creationId xmlns:a16="http://schemas.microsoft.com/office/drawing/2014/main" id="{A0F1BD07-2428-4CFF-9625-3B8A8743EAB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8212B"/>
                </a:solidFill>
              </a:defRPr>
            </a:pPr>
            <a:r>
              <a:rPr sz="2850" b="1">
                <a:solidFill>
                  <a:srgbClr val="18212B"/>
                </a:solidFill>
              </a:rPr>
              <a:t>Sonuç ve Sınırlılıklar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A6B7BD9-D0F8-47BD-8884-F4D3BE644EB3}"/>
              </a:ext>
            </a:extLst>
          </p:cNvPr>
          <p:cNvSpPr>
            <a:spLocks noGrp="1"/>
          </p:cNvSpPr>
          <p:nvPr/>
        </p:nvSpPr>
        <p:spPr>
          <a:xfrm>
            <a:off x="609600" y="1405759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>
                <a:solidFill>
                  <a:srgbClr val="5B6773"/>
                </a:solidFill>
              </a:defRPr>
            </a:pPr>
            <a:r>
              <a:rPr sz="1350" dirty="0">
                <a:solidFill>
                  <a:srgbClr val="5B6773"/>
                </a:solidFill>
              </a:rPr>
              <a:t>Top1–top2 fark </a:t>
            </a:r>
            <a:r>
              <a:rPr sz="1350" dirty="0" err="1">
                <a:solidFill>
                  <a:srgbClr val="5B6773"/>
                </a:solidFill>
              </a:rPr>
              <a:t>dizisi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tek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başına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kusursuz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değil</a:t>
            </a:r>
            <a:r>
              <a:rPr sz="1350" dirty="0">
                <a:solidFill>
                  <a:srgbClr val="5B6773"/>
                </a:solidFill>
              </a:rPr>
              <a:t>; </a:t>
            </a:r>
            <a:r>
              <a:rPr sz="1350" dirty="0" err="1">
                <a:solidFill>
                  <a:srgbClr val="5B6773"/>
                </a:solidFill>
              </a:rPr>
              <a:t>fakat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anlamlı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ve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ölçülebilir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bir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güven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sinyali</a:t>
            </a:r>
            <a:r>
              <a:rPr sz="1350" dirty="0">
                <a:solidFill>
                  <a:srgbClr val="5B6773"/>
                </a:solidFill>
              </a:rPr>
              <a:t> </a:t>
            </a:r>
            <a:r>
              <a:rPr sz="1350" dirty="0" err="1">
                <a:solidFill>
                  <a:srgbClr val="5B6773"/>
                </a:solidFill>
              </a:rPr>
              <a:t>taşıyor</a:t>
            </a:r>
            <a:r>
              <a:rPr sz="1350" dirty="0">
                <a:solidFill>
                  <a:srgbClr val="5B6773"/>
                </a:solidFill>
              </a:rPr>
              <a:t>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407BE28-BD54-4DB7-86C0-5D294342136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FAE509DF-0AD2-4305-925D-BCE4AC3B138C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4857750" cy="3124200"/>
          </a:xfrm>
          <a:prstGeom prst="roundRect">
            <a:avLst>
              <a:gd name="adj" fmla="val 2439"/>
            </a:avLst>
          </a:prstGeom>
          <a:solidFill>
            <a:srgbClr val="DCECD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177AEDA-3369-4515-A7A3-DE529B9F8630}"/>
              </a:ext>
            </a:extLst>
          </p:cNvPr>
          <p:cNvSpPr>
            <a:spLocks noGrp="1"/>
          </p:cNvSpPr>
          <p:nvPr/>
        </p:nvSpPr>
        <p:spPr>
          <a:xfrm>
            <a:off x="1123950" y="20574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2E7D5B"/>
                </a:solidFill>
              </a:defRPr>
            </a:pPr>
            <a:r>
              <a:rPr sz="900" b="1">
                <a:solidFill>
                  <a:srgbClr val="2E7D5B"/>
                </a:solidFill>
              </a:rPr>
              <a:t>SONUÇ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FB34EFD-4C56-42A2-90E1-8C7FEC6FFBC1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40957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Top1–top2 dizisinden çıkarılan 14 özellik cevap doğruluğunu tahmin edebildi</a:t>
            </a:r>
          </a:p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En dengeli model Gradient Boosting: F1=0.720, ROC-AUC=0.762</a:t>
            </a:r>
          </a:p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Tüm modeller rastgele tahmin çizgisinin üzerinde kaldı</a:t>
            </a:r>
          </a:p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İç olasılık sinyali dış doğrulayıcı olmadan kullanılabilir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F3F12FE2-C54F-4D36-B4A2-1C84EEC9390F}"/>
              </a:ext>
            </a:extLst>
          </p:cNvPr>
          <p:cNvSpPr>
            <a:spLocks noGrp="1"/>
          </p:cNvSpPr>
          <p:nvPr/>
        </p:nvSpPr>
        <p:spPr>
          <a:xfrm>
            <a:off x="6515100" y="1752600"/>
            <a:ext cx="4857750" cy="3124200"/>
          </a:xfrm>
          <a:prstGeom prst="roundRect">
            <a:avLst>
              <a:gd name="adj" fmla="val 2439"/>
            </a:avLst>
          </a:prstGeom>
          <a:solidFill>
            <a:srgbClr val="F2E1D7"/>
          </a:solidFill>
          <a:ln w="9525">
            <a:solidFill>
              <a:srgbClr val="C86B38"/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C79EBBF-8D32-47BD-9D68-A07A1E8F541A}"/>
              </a:ext>
            </a:extLst>
          </p:cNvPr>
          <p:cNvSpPr>
            <a:spLocks noGrp="1"/>
          </p:cNvSpPr>
          <p:nvPr/>
        </p:nvSpPr>
        <p:spPr>
          <a:xfrm>
            <a:off x="6819900" y="20574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C86B38"/>
                </a:solidFill>
              </a:defRPr>
            </a:pPr>
            <a:r>
              <a:rPr sz="900" b="1">
                <a:solidFill>
                  <a:srgbClr val="C86B38"/>
                </a:solidFill>
              </a:rPr>
              <a:t>SINIRLILIKLAR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C0F4913-39A9-4536-825C-3F8B907125A2}"/>
              </a:ext>
            </a:extLst>
          </p:cNvPr>
          <p:cNvSpPr>
            <a:spLocks noGrp="1"/>
          </p:cNvSpPr>
          <p:nvPr/>
        </p:nvSpPr>
        <p:spPr>
          <a:xfrm>
            <a:off x="6819900" y="2457450"/>
            <a:ext cx="40957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Eğitim kümesi hedeflenen 1000 örneğin altında kaldı</a:t>
            </a:r>
          </a:p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Altın cevap çıkarımı düz metin cevaplarda sınırlı hata riski taşır</a:t>
            </a:r>
          </a:p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1024 token limiti, n_tokens özelliğini güçlü hale getirdi</a:t>
            </a:r>
          </a:p>
          <a:p>
            <a:pPr>
              <a:defRPr sz="1500">
                <a:solidFill>
                  <a:srgbClr val="18212B"/>
                </a:solidFill>
              </a:defRPr>
            </a:pPr>
            <a:r>
              <a:rPr sz="1500">
                <a:solidFill>
                  <a:srgbClr val="18212B"/>
                </a:solidFill>
              </a:rPr>
              <a:t>• Daha büyük veriyle çapraz doğrulama ve kalibrasyon eklenebilir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94C5255-98C8-41B6-990B-85E160E38DBA}"/>
              </a:ext>
            </a:extLst>
          </p:cNvPr>
          <p:cNvSpPr>
            <a:spLocks noGrp="1"/>
          </p:cNvSpPr>
          <p:nvPr/>
        </p:nvSpPr>
        <p:spPr>
          <a:xfrm>
            <a:off x="1428750" y="53721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212B"/>
                </a:solidFill>
              </a:defRPr>
            </a:pPr>
            <a:r>
              <a:rPr sz="1800" b="1">
                <a:solidFill>
                  <a:srgbClr val="18212B"/>
                </a:solidFill>
              </a:rPr>
              <a:t>Genel çıkarım: Modelin token üretirken ne kadar kararlı olduğu, nihai cevabın doğruluğu hakkında bağımsız bir yardımcı sinyal sağlar.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2A9B5E1B-4112-44AC-A705-AF627056B08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>
                <a:solidFill>
                  <a:srgbClr val="5B6773"/>
                </a:solidFill>
              </a:defRPr>
            </a:pPr>
            <a:endParaRPr lang="tr-TR" sz="900" dirty="0">
              <a:solidFill>
                <a:srgbClr val="5B6773"/>
              </a:soli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1475F3CC-83F5-44D2-851E-5F7505CEEEF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rPr sz="900">
                <a:solidFill>
                  <a:srgbClr val="5B677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27624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Geniş ekran</PresentationFormat>
  <Slides>18</Slides>
  <Notes>18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19" baseType="lpstr"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216</cp:revision>
  <dcterms:created xsi:type="dcterms:W3CDTF">2026-06-30T10:58:28Z</dcterms:created>
  <dcterms:modified xsi:type="dcterms:W3CDTF">2026-06-30T11:44:45Z</dcterms:modified>
</cp:coreProperties>
</file>